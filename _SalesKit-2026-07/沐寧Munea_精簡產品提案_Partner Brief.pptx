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20240" y="2560320"/>
            <a:ext cx="6400800" cy="6400800"/>
          </a:xfrm>
          <a:prstGeom prst="ellipse">
            <a:avLst/>
          </a:prstGeom>
          <a:noFill/>
          <a:ln w="1651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920240" y="3383280"/>
            <a:ext cx="4754880" cy="4754880"/>
          </a:xfrm>
          <a:prstGeom prst="ellipse">
            <a:avLst/>
          </a:prstGeom>
          <a:noFill/>
          <a:ln w="1651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920240" y="4114800"/>
            <a:ext cx="3291840" cy="3291840"/>
          </a:xfrm>
          <a:prstGeom prst="ellipse">
            <a:avLst/>
          </a:prstGeom>
          <a:noFill/>
          <a:ln w="1651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731520" cy="731520"/>
          </a:xfrm>
          <a:prstGeom prst="roundRect">
            <a:avLst>
              <a:gd name="adj" fmla="val 22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1463040" y="566928"/>
            <a:ext cx="45720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Munea </a:t>
            </a:r>
            <a:r>
              <a:rPr sz="1900" b="1">
                <a:solidFill>
                  <a:srgbClr val="CFE6DD"/>
                </a:solidFill>
                <a:latin typeface="Noto Serif TC"/>
                <a:ea typeface="Noto Serif TC"/>
                <a:cs typeface="Noto Serif TC"/>
              </a:rPr>
              <a:t>沐寧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會記得你，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也在乎你在乎的人。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977639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住在手機裡、會說話、記得你，</a:t>
            </a:r>
          </a:p>
          <a:p>
            <a:pPr algn="l">
              <a:lnSpc>
                <a:spcPct val="130000"/>
              </a:lnSpc>
            </a:pPr>
            <a:r>
              <a:rPr sz="16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出事會找人的「家人替身」。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166360"/>
            <a:ext cx="4846320" cy="493776"/>
          </a:xfrm>
          <a:prstGeom prst="roundRect">
            <a:avLst>
              <a:gd name="adj" fmla="val 50000"/>
            </a:avLst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166360"/>
            <a:ext cx="4846320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產品介紹　·　合作提案摘要　Partner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1447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2EE"/>
                </a:solidFill>
                <a:latin typeface="Noto Sans TC"/>
                <a:ea typeface="Noto Sans TC"/>
                <a:cs typeface="Noto Sans TC"/>
              </a:rPr>
              <a:t>BeyondPath / Voice Path　·　2026</a:t>
            </a:r>
          </a:p>
        </p:txBody>
      </p:sp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603504"/>
            <a:ext cx="2619690" cy="5669280"/>
          </a:xfrm>
          <a:prstGeom prst="roundRect">
            <a:avLst>
              <a:gd name="adj" fmla="val 75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01 — 產品一覽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沐寧是什麼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64208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AI 智慧健康照護陪伴——不是聊天機器人，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是一個會記得你、在乎你的「家人替身」。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88920"/>
            <a:ext cx="320040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7" y="2935224"/>
            <a:ext cx="548640" cy="548640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" y="29169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21945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AI 智慧照護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2788920"/>
            <a:ext cx="320040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42232" y="2935224"/>
            <a:ext cx="548640" cy="548640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29169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2788920"/>
            <a:ext cx="21945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家人互動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67328"/>
            <a:ext cx="320040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7" y="3913632"/>
            <a:ext cx="548640" cy="548640"/>
          </a:xfrm>
          <a:prstGeom prst="ellipse">
            <a:avLst/>
          </a:prstGeom>
          <a:solidFill>
            <a:srgbClr val="23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" y="389534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67328"/>
            <a:ext cx="21945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聊聊心事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3632" y="3767328"/>
            <a:ext cx="320040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42232" y="3913632"/>
            <a:ext cx="548640" cy="548640"/>
          </a:xfrm>
          <a:prstGeom prst="ellipse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2232" y="389534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3767328"/>
            <a:ext cx="2194560" cy="8412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全家健康管家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83480"/>
            <a:ext cx="6547104" cy="1051560"/>
          </a:xfrm>
          <a:prstGeom prst="roundRect">
            <a:avLst>
              <a:gd name="adj" fmla="val 14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5138928"/>
            <a:ext cx="18166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記憶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532120"/>
            <a:ext cx="18166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記得你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3616" y="5138928"/>
            <a:ext cx="18166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感知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3616" y="5532120"/>
            <a:ext cx="18166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懂此刻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5984" y="5138928"/>
            <a:ext cx="18166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交互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5984" y="5532120"/>
            <a:ext cx="181660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怎麼跟你互動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99632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指揮層調度 感知／記憶／交互 三層　·　S2S 即時語音＋Live Avatar 會動的臉　·　非醫療軟體</a:t>
            </a:r>
          </a:p>
        </p:txBody>
      </p:sp>
      <p:pic>
        <p:nvPicPr>
          <p:cNvPr id="30" name="Picture 2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914400"/>
            <a:ext cx="2345045" cy="5074920"/>
          </a:xfrm>
          <a:prstGeom prst="roundRect">
            <a:avLst>
              <a:gd name="adj" fmla="val 75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31" name="TextBox 30"/>
          <p:cNvSpPr txBox="1"/>
          <p:nvPr/>
        </p:nvSpPr>
        <p:spPr>
          <a:xfrm>
            <a:off x="9052560" y="61081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實機畫面：每日陪伴首頁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02 — 市場與差異化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藍海縫，就是現在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615184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9384"/>
            <a:ext cx="2112263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A8A0"/>
                </a:solidFill>
                <a:latin typeface="Noto Serif TC"/>
                <a:ea typeface="Noto Serif TC"/>
                <a:cs typeface="Noto Serif TC"/>
              </a:rPr>
              <a:t>$5.01B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587752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全球 AI 陪伴 App（2026）· 18.1% CAGR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83080"/>
            <a:ext cx="2615184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929384"/>
            <a:ext cx="2112263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D98841"/>
                </a:solidFill>
                <a:latin typeface="Noto Serif TC"/>
                <a:ea typeface="Noto Serif TC"/>
                <a:cs typeface="Noto Serif TC"/>
              </a:rPr>
              <a:t>$44.6B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587752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全球 AI 銀髮照護（2026）· 15.2% CAGR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310128"/>
            <a:ext cx="2615184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456432"/>
            <a:ext cx="2112263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20%＋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114800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台灣 65+ 占比 · 超高齡社會（2026）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310128"/>
            <a:ext cx="2615184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3456432"/>
            <a:ext cx="2112263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A8611E"/>
                </a:solidFill>
                <a:latin typeface="Noto Serif TC"/>
                <a:ea typeface="Noto Serif TC"/>
                <a:cs typeface="Noto Serif TC"/>
              </a:rPr>
              <a:t>76%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114800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老年家庭為獨居長輩（內政部 2026/04）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2920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社交陪伴是銀髮照護核心成長應用，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亞太成長最快（18% CAGR, 2026）。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台灣 C 端家庭陪伴——目前沒有贏家。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449824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08483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為什麼只有沐寧做得到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743200"/>
            <a:ext cx="548640" cy="548640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7249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74320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華語 / 台語 × 手機隨身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145536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純 App、不綁硬體，繞開 ElliQ / Hyodol 的三個死穴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913632"/>
            <a:ext cx="548640" cy="548640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9534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913632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家人連動 × 危機安全網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315968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子女買、長輩用；危機轉介家人 / 1925 / 119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5084064"/>
            <a:ext cx="548640" cy="548640"/>
          </a:xfrm>
          <a:prstGeom prst="ellipse">
            <a:avLst/>
          </a:prstGeom>
          <a:solidFill>
            <a:srgbClr val="23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06577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084064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記憶 × 感知 × 六角色人格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486400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跨天記得你、懂此刻，六種人格都在乎你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55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來源：Research and Markets、DataM Intelligence、Taipei Times、內政部（2026）。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03 — 合作切入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怎麼一起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iOS 已就緒、TestFlight 可上線；台灣 2026 政府投入 NT$62.5 億，窗口期估 12–18 個月。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449824" cy="1417320"/>
          </a:xfrm>
          <a:prstGeom prst="roundRect">
            <a:avLst>
              <a:gd name="adj" fmla="val 10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811780"/>
            <a:ext cx="548640" cy="548640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7934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633472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通路 × 代裝銷售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3090672"/>
            <a:ext cx="435254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子女端付費、長輩端使用（電信 / 3C / 零售）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377440"/>
            <a:ext cx="5449824" cy="1417320"/>
          </a:xfrm>
          <a:prstGeom prst="roundRect">
            <a:avLst>
              <a:gd name="adj" fmla="val 10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811780"/>
            <a:ext cx="548640" cy="548640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934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33472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保險 × 長照給付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90672"/>
            <a:ext cx="435254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ElliQ 2026 進日本＋Medicaid、Hyodol 2026 進美國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5449824" cy="1417320"/>
          </a:xfrm>
          <a:prstGeom prst="roundRect">
            <a:avLst>
              <a:gd name="adj" fmla="val 10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4411980"/>
            <a:ext cx="548640" cy="548640"/>
          </a:xfrm>
          <a:prstGeom prst="ellipse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3936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233672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健康數據價值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690872"/>
            <a:ext cx="435254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服藥順從性、情緒訊號（對標 Medisafe 藥廠變現）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77639"/>
            <a:ext cx="5449824" cy="1417320"/>
          </a:xfrm>
          <a:prstGeom prst="roundRect">
            <a:avLst>
              <a:gd name="adj" fmla="val 10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411980"/>
            <a:ext cx="548640" cy="548640"/>
          </a:xfrm>
          <a:prstGeom prst="ellipse">
            <a:avLst/>
          </a:prstGeom>
          <a:solidFill>
            <a:srgbClr val="C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936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33672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硬體 × 居家整合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90872"/>
            <a:ext cx="435254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手機起步，未來接家用裝置與服務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8F2EE"/>
                </a:solidFill>
                <a:latin typeface="Noto Sans TC"/>
                <a:ea typeface="Noto Sans TC"/>
                <a:cs typeface="Noto Sans TC"/>
              </a:rPr>
              <a:t>負責任設計：非醫療軟體，用藥＝提醒、情緒陪伴非治療、危機轉介真人——安全網是第一天的核心。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276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Edward（創辦人）　·　BeyondPath / Voice Path　·　</a:t>
            </a:r>
            <a:r>
              <a:rPr sz="12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edwardt0303@gmail.com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