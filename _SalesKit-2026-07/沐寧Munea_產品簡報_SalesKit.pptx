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468880"/>
            <a:ext cx="6583680" cy="6583680"/>
          </a:xfrm>
          <a:prstGeom prst="ellipse">
            <a:avLst/>
          </a:prstGeom>
          <a:noFill/>
          <a:ln w="17780">
            <a:solidFill>
              <a:srgbClr val="3F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3291840"/>
            <a:ext cx="4937760" cy="4937760"/>
          </a:xfrm>
          <a:prstGeom prst="ellipse">
            <a:avLst/>
          </a:prstGeom>
          <a:noFill/>
          <a:ln w="17780">
            <a:solidFill>
              <a:srgbClr val="3F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023360"/>
            <a:ext cx="3474720" cy="3474720"/>
          </a:xfrm>
          <a:prstGeom prst="ellipse">
            <a:avLst/>
          </a:prstGeom>
          <a:noFill/>
          <a:ln w="17780">
            <a:solidFill>
              <a:srgbClr val="3F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749808" cy="749808"/>
          </a:xfrm>
          <a:prstGeom prst="roundRect">
            <a:avLst>
              <a:gd name="adj" fmla="val 22000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1481328" y="566928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Munea </a:t>
            </a:r>
            <a:r>
              <a:rPr sz="1900" b="1">
                <a:solidFill>
                  <a:srgbClr val="CFE6DD"/>
                </a:solidFill>
                <a:latin typeface="Noto Serif TC"/>
                <a:ea typeface="Noto Serif TC"/>
                <a:cs typeface="Noto Serif TC"/>
              </a:rPr>
              <a:t>沐寧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57400"/>
            <a:ext cx="704088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4600" b="1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會記得你，</a:t>
            </a:r>
          </a:p>
          <a:p>
            <a:pPr algn="l">
              <a:lnSpc>
                <a:spcPct val="112000"/>
              </a:lnSpc>
            </a:pPr>
            <a:r>
              <a:rPr sz="4600" b="1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也在乎你在乎的人。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416052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AI 智慧健康照護陪伴　·　住在手機裡的家人替身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892040"/>
            <a:ext cx="4480560" cy="512064"/>
          </a:xfrm>
          <a:prstGeom prst="roundRect">
            <a:avLst>
              <a:gd name="adj" fmla="val 50000"/>
            </a:avLst>
          </a:prstGeom>
          <a:solidFill>
            <a:srgbClr val="3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892040"/>
            <a:ext cx="448056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合作夥伴介紹　Presales Partner 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35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F2EE"/>
                </a:solidFill>
                <a:latin typeface="Noto Sans TC"/>
                <a:ea typeface="Noto Sans TC"/>
                <a:cs typeface="Noto Sans TC"/>
              </a:rPr>
              <a:t>BeyondPath / Voice Path　·　2026　·　版本 v1</a:t>
            </a:r>
          </a:p>
        </p:txBody>
      </p:sp>
      <p:pic>
        <p:nvPicPr>
          <p:cNvPr id="13" name="Picture 12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566928"/>
            <a:ext cx="2653493" cy="5742432"/>
          </a:xfrm>
          <a:prstGeom prst="roundRect">
            <a:avLst>
              <a:gd name="adj" fmla="val 7500"/>
            </a:avLst>
          </a:prstGeom>
          <a:effectLst>
            <a:outerShdw blurRad="128016" dist="82296" dir="5400000" rotWithShape="0">
              <a:srgbClr val="1F3C34">
                <a:alpha val="6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01 — 市場背景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台灣正走進</a:t>
            </a:r>
          </a:p>
          <a:p>
            <a:pPr algn="l">
              <a:lnSpc>
                <a:spcPct val="110000"/>
              </a:lnSpc>
            </a:pPr>
            <a:r>
              <a:rPr sz="330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一個巨大的照護缺口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06040"/>
            <a:ext cx="4892040" cy="320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台灣 2026 年持續處於「超高齡社會」，</a:t>
            </a:r>
          </a:p>
          <a:p>
            <a:pPr algn="l">
              <a:lnSpc>
                <a:spcPct val="128000"/>
              </a:lnSpc>
            </a:pPr>
            <a:r>
              <a:rPr sz="150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65 歲以上超過 20%，分母還在變大。</a:t>
            </a:r>
          </a:p>
          <a:p>
            <a:pPr algn="l">
              <a:lnSpc>
                <a:spcPct val="128000"/>
              </a:lnSpc>
            </a:pPr>
            <a:r>
              <a:rPr sz="150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50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真正的缺口不是年齡，是「孤獨」——</a:t>
            </a:r>
          </a:p>
          <a:p>
            <a:pPr algn="l">
              <a:lnSpc>
                <a:spcPct val="128000"/>
              </a:lnSpc>
            </a:pPr>
            <a:r>
              <a:rPr sz="150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全國逾 80 萬老年家庭，約 76%</a:t>
            </a:r>
          </a:p>
          <a:p>
            <a:pPr algn="l">
              <a:lnSpc>
                <a:spcPct val="128000"/>
              </a:lnSpc>
            </a:pPr>
            <a:r>
              <a:rPr sz="150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是獨居長輩，多數人整天沒人說話。</a:t>
            </a:r>
          </a:p>
          <a:p>
            <a:pPr algn="l">
              <a:lnSpc>
                <a:spcPct val="128000"/>
              </a:lnSpc>
            </a:pPr>
            <a:r>
              <a:rPr sz="150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50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衛福部 2026 年投入 NT$62.5 億擴大</a:t>
            </a:r>
          </a:p>
          <a:p>
            <a:pPr algn="l">
              <a:lnSpc>
                <a:spcPct val="128000"/>
              </a:lnSpc>
            </a:pPr>
            <a:r>
              <a:rPr sz="150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獨居長者服務——已是國安級議題。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868680"/>
            <a:ext cx="5650992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1928" y="1051560"/>
            <a:ext cx="5102352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3AA8A0"/>
                </a:solidFill>
                <a:latin typeface="Noto Serif TC"/>
                <a:ea typeface="Noto Serif TC"/>
                <a:cs typeface="Noto Serif TC"/>
              </a:rPr>
              <a:t>20%＋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216" y="1627632"/>
            <a:ext cx="504748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65 歲以上人口占比　·　超高齡社會（2026）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468880"/>
            <a:ext cx="5650992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2651760"/>
            <a:ext cx="5102352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D98841"/>
                </a:solidFill>
                <a:latin typeface="Noto Serif TC"/>
                <a:ea typeface="Noto Serif TC"/>
                <a:cs typeface="Noto Serif TC"/>
              </a:rPr>
              <a:t>76%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3227832"/>
            <a:ext cx="504748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老年家庭為獨居長輩　·　全國逾 80 萬戶（內政部 2026/04）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4069080"/>
            <a:ext cx="5650992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4251960"/>
            <a:ext cx="5102352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36C66"/>
                </a:solidFill>
                <a:latin typeface="Noto Serif TC"/>
                <a:ea typeface="Noto Serif TC"/>
                <a:cs typeface="Noto Serif TC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4828032"/>
            <a:ext cx="504748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台灣 C 端「子女買給長輩」目前沒有贏家——本土強者都在做 B2B 機構端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2727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來源：Taipei Times（2026/03 單人戶首破 40%、2026/04 超高齡孤立）、內政部、衛生福利部（2026）。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40135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82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沐寧 Munea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02 — 市場機會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310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大到不會錯過，但還沒有贏家站穩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31720"/>
            <a:ext cx="5394960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58775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全球 AI 陪伴 App 市場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32004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" y="347472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E8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0976" y="3474720"/>
            <a:ext cx="1709027" cy="365760"/>
          </a:xfrm>
          <a:prstGeom prst="roundRect">
            <a:avLst>
              <a:gd name="adj" fmla="val 50000"/>
            </a:avLst>
          </a:prstGeom>
          <a:solidFill>
            <a:srgbClr val="3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3419856"/>
            <a:ext cx="1371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$5.01B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04164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2030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" y="4315968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E8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976" y="4315968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3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4261104"/>
            <a:ext cx="1371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$9.65B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370832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F8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370832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A8611E"/>
                </a:solidFill>
                <a:latin typeface="Noto Sans TC"/>
                <a:ea typeface="Noto Sans TC"/>
                <a:cs typeface="Noto Sans TC"/>
              </a:rPr>
              <a:t>18.1% CAGR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331720"/>
            <a:ext cx="5394960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258775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全球 AI 銀髮照護市場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2004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347472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E8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29400" y="3474720"/>
            <a:ext cx="1624071" cy="365760"/>
          </a:xfrm>
          <a:prstGeom prst="roundRect">
            <a:avLst>
              <a:gd name="adj" fmla="val 50000"/>
            </a:avLst>
          </a:prstGeom>
          <a:solidFill>
            <a:srgbClr val="D98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0112" y="3419856"/>
            <a:ext cx="1371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$44.6B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04164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2031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4315968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E8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29400" y="4315968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D98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0112" y="4261104"/>
            <a:ext cx="1371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$90.4B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4370832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F8E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4370832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A8611E"/>
                </a:solidFill>
                <a:latin typeface="Noto Sans TC"/>
                <a:ea typeface="Noto Sans TC"/>
                <a:cs typeface="Noto Sans TC"/>
              </a:rPr>
              <a:t>15.2% CAGR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257800"/>
            <a:ext cx="11073384" cy="896112"/>
          </a:xfrm>
          <a:prstGeom prst="roundRect">
            <a:avLst>
              <a:gd name="adj" fmla="val 16000"/>
            </a:avLst>
          </a:prstGeom>
          <a:solidFill>
            <a:srgbClr val="D9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257800"/>
            <a:ext cx="10332720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236C66"/>
                </a:solidFill>
                <a:latin typeface="Noto Sans TC"/>
                <a:ea typeface="Noto Sans TC"/>
                <a:cs typeface="Noto Sans TC"/>
              </a:rPr>
              <a:t>關鍵訊號　</a:t>
            </a:r>
            <a:r>
              <a:rPr sz="135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社交陪伴（companion AI）是銀髮照護核心成長應用、亞太成長最快（18.0% CAGR）；全球已逾 3,000 萬人每日使用 AI 陪伴。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291072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來源：Research and Markets／The Business Research Company、DataM Intelligence（2026）。估值依機構方法論不同而有區間，此處採較保守估法。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40135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382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沐寧 Munea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03 — 產品定位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沐寧是什麼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813816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2100" b="1">
                <a:solidFill>
                  <a:srgbClr val="236C66"/>
                </a:solidFill>
                <a:latin typeface="Noto Serif TC"/>
                <a:ea typeface="Noto Serif TC"/>
                <a:cs typeface="Noto Serif TC"/>
              </a:rPr>
              <a:t>住在手機裡、會說話、記得你，</a:t>
            </a:r>
          </a:p>
          <a:p>
            <a:pPr algn="l">
              <a:lnSpc>
                <a:spcPct val="116000"/>
              </a:lnSpc>
            </a:pPr>
            <a:r>
              <a:rPr sz="2100" b="1">
                <a:solidFill>
                  <a:srgbClr val="236C66"/>
                </a:solidFill>
                <a:latin typeface="Noto Serif TC"/>
                <a:ea typeface="Noto Serif TC"/>
                <a:cs typeface="Noto Serif TC"/>
              </a:rPr>
              <a:t>出事會找人的「家人替身」。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88036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智慧健康照護與陪伴　·　非醫療軟體　·　子女買、長輩用、全家都能用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401568"/>
            <a:ext cx="3703320" cy="12618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694176"/>
            <a:ext cx="658368" cy="658368"/>
          </a:xfrm>
          <a:prstGeom prst="ellipse">
            <a:avLst/>
          </a:prstGeom>
          <a:solidFill>
            <a:srgbClr val="3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675888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3621024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AI 智慧照護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4005072"/>
            <a:ext cx="2496311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每日照護節奏、用藥提醒、健康關心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3401568"/>
            <a:ext cx="3703320" cy="12618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90872" y="3694176"/>
            <a:ext cx="658368" cy="658368"/>
          </a:xfrm>
          <a:prstGeom prst="ellipse">
            <a:avLst/>
          </a:prstGeom>
          <a:solidFill>
            <a:srgbClr val="D98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3675888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5544" y="3621024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家人互動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5544" y="4005072"/>
            <a:ext cx="2496311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家人健康圈、家庭活動、彼此看見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28032"/>
            <a:ext cx="3703320" cy="12618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8" y="5120640"/>
            <a:ext cx="658368" cy="658368"/>
          </a:xfrm>
          <a:prstGeom prst="ellipse">
            <a:avLst/>
          </a:prstGeom>
          <a:solidFill>
            <a:srgbClr val="236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102352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19" y="504748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聊聊心事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19" y="5431536"/>
            <a:ext cx="2496311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有臉有聲的陪伴，聽你說今天過得好不好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4828032"/>
            <a:ext cx="3703320" cy="12618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90872" y="5120640"/>
            <a:ext cx="658368" cy="658368"/>
          </a:xfrm>
          <a:prstGeom prst="ellipse">
            <a:avLst/>
          </a:prstGeom>
          <a:solidFill>
            <a:srgbClr val="E0B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5102352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5544" y="504748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全家健康管家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95544" y="5431536"/>
            <a:ext cx="2496311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不是只給長輩——大人小孩長輩都用</a:t>
            </a:r>
          </a:p>
        </p:txBody>
      </p:sp>
      <p:pic>
        <p:nvPicPr>
          <p:cNvPr id="27" name="Picture 26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713232"/>
            <a:ext cx="2514058" cy="5440680"/>
          </a:xfrm>
          <a:prstGeom prst="roundRect">
            <a:avLst>
              <a:gd name="adj" fmla="val 7500"/>
            </a:avLst>
          </a:prstGeom>
          <a:effectLst>
            <a:outerShdw blurRad="128016" dist="82296" dir="5400000" rotWithShape="0">
              <a:srgbClr val="1F3C34">
                <a:alpha val="60000"/>
              </a:srgbClr>
            </a:outerShdw>
          </a:effectLst>
        </p:spPr>
      </p:pic>
      <p:sp>
        <p:nvSpPr>
          <p:cNvPr id="28" name="TextBox 27"/>
          <p:cNvSpPr txBox="1"/>
          <p:nvPr/>
        </p:nvSpPr>
        <p:spPr>
          <a:xfrm>
            <a:off x="11140135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82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沐寧 Munea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04 — 核心體驗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點開，就像跟家人視訊</a:t>
            </a:r>
          </a:p>
        </p:txBody>
      </p:sp>
      <p:pic>
        <p:nvPicPr>
          <p:cNvPr id="5" name="Picture 4" descr="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2112654" cy="4572000"/>
          </a:xfrm>
          <a:prstGeom prst="roundRect">
            <a:avLst>
              <a:gd name="adj" fmla="val 8000"/>
            </a:avLst>
          </a:prstGeom>
          <a:effectLst>
            <a:outerShdw blurRad="128016" dist="82296" dir="5400000" rotWithShape="0">
              <a:srgbClr val="1F3C34">
                <a:alpha val="60000"/>
              </a:srgbClr>
            </a:outerShdw>
          </a:effectLst>
        </p:spPr>
      </p:pic>
      <p:sp>
        <p:nvSpPr>
          <p:cNvPr id="6" name="Oval 5"/>
          <p:cNvSpPr/>
          <p:nvPr/>
        </p:nvSpPr>
        <p:spPr>
          <a:xfrm>
            <a:off x="4343400" y="1874519"/>
            <a:ext cx="566928" cy="566928"/>
          </a:xfrm>
          <a:prstGeom prst="ellipse">
            <a:avLst/>
          </a:prstGeom>
          <a:solidFill>
            <a:srgbClr val="3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856231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9784" y="1819655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全屏「會說話的臉」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9784" y="2240279"/>
            <a:ext cx="649224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像視訊通話，不是聊天機器人的對話框</a:t>
            </a:r>
          </a:p>
        </p:txBody>
      </p:sp>
      <p:sp>
        <p:nvSpPr>
          <p:cNvPr id="10" name="Oval 9"/>
          <p:cNvSpPr/>
          <p:nvPr/>
        </p:nvSpPr>
        <p:spPr>
          <a:xfrm>
            <a:off x="4343400" y="3044952"/>
            <a:ext cx="566928" cy="566928"/>
          </a:xfrm>
          <a:prstGeom prst="ellipse">
            <a:avLst/>
          </a:prstGeom>
          <a:solidFill>
            <a:srgbClr val="D98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3026664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9784" y="2990088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即時語音對話（S2S）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9784" y="3410712"/>
            <a:ext cx="649224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聽與講像兩個真人，被打斷會自然回應、接得上上文</a:t>
            </a:r>
          </a:p>
        </p:txBody>
      </p:sp>
      <p:sp>
        <p:nvSpPr>
          <p:cNvPr id="14" name="Oval 13"/>
          <p:cNvSpPr/>
          <p:nvPr/>
        </p:nvSpPr>
        <p:spPr>
          <a:xfrm>
            <a:off x="4343400" y="4215384"/>
            <a:ext cx="566928" cy="566928"/>
          </a:xfrm>
          <a:prstGeom prst="ellipse">
            <a:avLst/>
          </a:prstGeom>
          <a:solidFill>
            <a:srgbClr val="236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419709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9784" y="4160520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跨天記得你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4581144"/>
            <a:ext cx="649224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「上次你說膝蓋痛，好點沒？」——記憶是最強的在乎</a:t>
            </a:r>
          </a:p>
        </p:txBody>
      </p:sp>
      <p:sp>
        <p:nvSpPr>
          <p:cNvPr id="18" name="Oval 17"/>
          <p:cNvSpPr/>
          <p:nvPr/>
        </p:nvSpPr>
        <p:spPr>
          <a:xfrm>
            <a:off x="4343400" y="5385816"/>
            <a:ext cx="566928" cy="566928"/>
          </a:xfrm>
          <a:prstGeom prst="ellipse">
            <a:avLst/>
          </a:prstGeom>
          <a:solidFill>
            <a:srgbClr val="E0B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53675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9784" y="5330952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極簡到長輩會用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4" y="5751576"/>
            <a:ext cx="649224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超大結束鈕，點一下就能開口，主動出聲找你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0135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沐寧 Munea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05 — App 實機畫面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四個常用畫面，全是實機截圖</a:t>
            </a:r>
          </a:p>
        </p:txBody>
      </p:sp>
      <p:pic>
        <p:nvPicPr>
          <p:cNvPr id="5" name="Picture 4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810512"/>
            <a:ext cx="1901388" cy="4114800"/>
          </a:xfrm>
          <a:prstGeom prst="roundRect">
            <a:avLst>
              <a:gd name="adj" fmla="val 9000"/>
            </a:avLst>
          </a:prstGeom>
          <a:effectLst>
            <a:outerShdw blurRad="128016" dist="82296" dir="5400000" rotWithShape="0">
              <a:srgbClr val="1F3C34">
                <a:alpha val="6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442638" y="60533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首頁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638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每日陪伴節奏</a:t>
            </a:r>
          </a:p>
        </p:txBody>
      </p:sp>
      <p:pic>
        <p:nvPicPr>
          <p:cNvPr id="8" name="Picture 7" descr="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468" y="1810512"/>
            <a:ext cx="1901388" cy="4114800"/>
          </a:xfrm>
          <a:prstGeom prst="roundRect">
            <a:avLst>
              <a:gd name="adj" fmla="val 9000"/>
            </a:avLst>
          </a:prstGeom>
          <a:effectLst>
            <a:outerShdw blurRad="128016" dist="82296" dir="5400000" rotWithShape="0">
              <a:srgbClr val="1F3C34">
                <a:alpha val="60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3300138" y="60533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狀態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0138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情緒 / 健康 / 用藥</a:t>
            </a:r>
          </a:p>
        </p:txBody>
      </p:sp>
      <p:pic>
        <p:nvPicPr>
          <p:cNvPr id="11" name="Picture 10" descr="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1810512"/>
            <a:ext cx="1901388" cy="4114800"/>
          </a:xfrm>
          <a:prstGeom prst="roundRect">
            <a:avLst>
              <a:gd name="adj" fmla="val 9000"/>
            </a:avLst>
          </a:prstGeom>
          <a:effectLst>
            <a:outerShdw blurRad="128016" dist="82296" dir="5400000" rotWithShape="0">
              <a:srgbClr val="1F3C34">
                <a:alpha val="60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157638" y="60533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聊聊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7638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全屏語音對話</a:t>
            </a:r>
          </a:p>
        </p:txBody>
      </p:sp>
      <p:pic>
        <p:nvPicPr>
          <p:cNvPr id="14" name="Picture 13" descr="fami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9468" y="1810512"/>
            <a:ext cx="1901388" cy="4114800"/>
          </a:xfrm>
          <a:prstGeom prst="roundRect">
            <a:avLst>
              <a:gd name="adj" fmla="val 9000"/>
            </a:avLst>
          </a:prstGeom>
          <a:effectLst>
            <a:outerShdw blurRad="128016" dist="82296" dir="5400000" rotWithShape="0">
              <a:srgbClr val="1F3C34">
                <a:alpha val="60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9015138" y="60533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家人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5138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全家健康圈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0135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沐寧 Munea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06 — 聊聊 AI 服務架構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2296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一句話回應，背後是一套分層引擎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S2S 即時語音 × Live Avatar 會動的臉　·　三顆腦分工：背景＝管家腦、即時＝反射腦、安全＝守護腦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6949440" cy="548640"/>
          </a:xfrm>
          <a:prstGeom prst="roundRect">
            <a:avLst>
              <a:gd name="adj" fmla="val 16000"/>
            </a:avLst>
          </a:prstGeom>
          <a:solidFill>
            <a:srgbClr val="36423E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28800"/>
            <a:ext cx="65836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指揮層 Orchestrator　</a:t>
            </a:r>
            <a:r>
              <a:rPr sz="11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定優先權：安全 ＞ 即時語音 ＞ 背景管家，最小注入不爆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505456"/>
            <a:ext cx="3401568" cy="1152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0664" y="2697480"/>
            <a:ext cx="566928" cy="566928"/>
          </a:xfrm>
          <a:prstGeom prst="ellipse">
            <a:avLst/>
          </a:prstGeom>
          <a:solidFill>
            <a:srgbClr val="D98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67919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688336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感知層</a:t>
            </a:r>
            <a:r>
              <a:rPr sz="1150" b="1">
                <a:solidFill>
                  <a:srgbClr val="D98841"/>
                </a:solidFill>
                <a:latin typeface="Noto Sans TC"/>
                <a:ea typeface="Noto Sans TC"/>
                <a:cs typeface="Noto Sans TC"/>
              </a:rPr>
              <a:t>　懂此刻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3072384"/>
            <a:ext cx="244144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天氣·在地·家人·興趣＋每日簡報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355848"/>
            <a:ext cx="294436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引擎：CWA／Google Maps／行事曆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2505456"/>
            <a:ext cx="3401568" cy="1152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88536" y="2697480"/>
            <a:ext cx="566928" cy="566928"/>
          </a:xfrm>
          <a:prstGeom prst="ellipse">
            <a:avLst/>
          </a:prstGeom>
          <a:solidFill>
            <a:srgbClr val="3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8536" y="267919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2688336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記憶層</a:t>
            </a:r>
            <a:r>
              <a:rPr sz="115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　記得你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3072384"/>
            <a:ext cx="244144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四層記憶·重要分數·整理員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355848"/>
            <a:ext cx="294436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底層：Postgres + pgvector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03904"/>
            <a:ext cx="6949440" cy="14996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0664" y="3959352"/>
            <a:ext cx="566928" cy="566928"/>
          </a:xfrm>
          <a:prstGeom prst="ellipse">
            <a:avLst/>
          </a:prstGeom>
          <a:solidFill>
            <a:srgbClr val="236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941064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6" y="395020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交互層</a:t>
            </a:r>
            <a:r>
              <a:rPr sz="1150" b="1">
                <a:solidFill>
                  <a:srgbClr val="236C66"/>
                </a:solidFill>
                <a:latin typeface="Noto Sans TC"/>
                <a:ea typeface="Noto Sans TC"/>
                <a:cs typeface="Noto Sans TC"/>
              </a:rPr>
              <a:t>　怎麼跟你互動（即時／反射腦）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480560"/>
            <a:ext cx="1591056" cy="713232"/>
          </a:xfrm>
          <a:prstGeom prst="roundRect">
            <a:avLst>
              <a:gd name="adj" fmla="val 20000"/>
            </a:avLst>
          </a:prstGeom>
          <a:solidFill>
            <a:srgbClr val="D9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53712"/>
            <a:ext cx="159105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即時語音 S2S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864608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Gemini Live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50592" y="4480560"/>
            <a:ext cx="1591056" cy="713232"/>
          </a:xfrm>
          <a:prstGeom prst="roundRect">
            <a:avLst>
              <a:gd name="adj" fmla="val 20000"/>
            </a:avLst>
          </a:prstGeom>
          <a:solidFill>
            <a:srgbClr val="D9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50592" y="4553712"/>
            <a:ext cx="159105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Live Avatar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50592" y="4864608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D98841"/>
                </a:solidFill>
                <a:latin typeface="Noto Sans TC"/>
                <a:ea typeface="Noto Sans TC"/>
                <a:cs typeface="Noto Sans TC"/>
              </a:rPr>
              <a:t>Ditto·Tavus·Anam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51376" y="4480560"/>
            <a:ext cx="1591056" cy="713232"/>
          </a:xfrm>
          <a:prstGeom prst="roundRect">
            <a:avLst>
              <a:gd name="adj" fmla="val 20000"/>
            </a:avLst>
          </a:prstGeom>
          <a:solidFill>
            <a:srgbClr val="D9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51376" y="4553712"/>
            <a:ext cx="159105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安全守護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51376" y="4864608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36C66"/>
                </a:solidFill>
                <a:latin typeface="Noto Sans TC"/>
                <a:ea typeface="Noto Sans TC"/>
                <a:cs typeface="Noto Sans TC"/>
              </a:rPr>
              <a:t>1925·119 轉介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52160" y="4480560"/>
            <a:ext cx="1591056" cy="713232"/>
          </a:xfrm>
          <a:prstGeom prst="roundRect">
            <a:avLst>
              <a:gd name="adj" fmla="val 20000"/>
            </a:avLst>
          </a:prstGeom>
          <a:solidFill>
            <a:srgbClr val="D9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4553712"/>
            <a:ext cx="159105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六角色人格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4864608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E0B354"/>
                </a:solidFill>
                <a:latin typeface="Noto Sans TC"/>
                <a:ea typeface="Noto Sans TC"/>
                <a:cs typeface="Noto Sans TC"/>
              </a:rPr>
              <a:t>自有 IP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468112"/>
            <a:ext cx="6949440" cy="548640"/>
          </a:xfrm>
          <a:prstGeom prst="roundRect">
            <a:avLst>
              <a:gd name="adj" fmla="val 22000"/>
            </a:avLst>
          </a:prstGeom>
          <a:solidFill>
            <a:srgbClr val="D9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468112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36C66"/>
                </a:solidFill>
                <a:latin typeface="Noto Sans TC"/>
                <a:ea typeface="Noto Sans TC"/>
                <a:cs typeface="Noto Sans TC"/>
              </a:rPr>
              <a:t>回應 ＝ 人格 ＋ 記憶 ＋ 感知 ＋ 當下對話 ＋ 安全 ＋ 語音／臉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17536" y="1828800"/>
            <a:ext cx="3913632" cy="4187952"/>
          </a:xfrm>
          <a:prstGeom prst="roundRect">
            <a:avLst>
              <a:gd name="adj" fmla="val 8000"/>
            </a:avLst>
          </a:prstGeom>
          <a:solidFill>
            <a:srgbClr val="36423E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2084831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解決什麼 → 用戶價值 → 差在哪</a:t>
            </a:r>
          </a:p>
        </p:txBody>
      </p:sp>
      <p:sp>
        <p:nvSpPr>
          <p:cNvPr id="40" name="Oval 39"/>
          <p:cNvSpPr/>
          <p:nvPr/>
        </p:nvSpPr>
        <p:spPr>
          <a:xfrm>
            <a:off x="8065008" y="2715768"/>
            <a:ext cx="128016" cy="128016"/>
          </a:xfrm>
          <a:prstGeom prst="ellipse">
            <a:avLst/>
          </a:prstGeom>
          <a:solidFill>
            <a:srgbClr val="3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2" y="2615184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感知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2" y="292607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不再罐頭問候 → 每天第一句就懂你的今天</a:t>
            </a:r>
          </a:p>
        </p:txBody>
      </p:sp>
      <p:sp>
        <p:nvSpPr>
          <p:cNvPr id="43" name="Oval 42"/>
          <p:cNvSpPr/>
          <p:nvPr/>
        </p:nvSpPr>
        <p:spPr>
          <a:xfrm>
            <a:off x="8065008" y="3392423"/>
            <a:ext cx="128016" cy="128016"/>
          </a:xfrm>
          <a:prstGeom prst="ellipse">
            <a:avLst/>
          </a:prstGeom>
          <a:solidFill>
            <a:srgbClr val="D98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02752" y="3291839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記憶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752" y="3602735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不再每次像初見 → 跨天記得你、越用越黏</a:t>
            </a:r>
          </a:p>
        </p:txBody>
      </p:sp>
      <p:sp>
        <p:nvSpPr>
          <p:cNvPr id="46" name="Oval 45"/>
          <p:cNvSpPr/>
          <p:nvPr/>
        </p:nvSpPr>
        <p:spPr>
          <a:xfrm>
            <a:off x="8065008" y="4069080"/>
            <a:ext cx="128016" cy="128016"/>
          </a:xfrm>
          <a:prstGeom prst="ellipse">
            <a:avLst/>
          </a:prstGeom>
          <a:solidFill>
            <a:srgbClr val="E0B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02752" y="396849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語音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02752" y="427939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S2S 直接生成（非 STT-LLM-TTS）→ 可打斷、真人感、低延遲</a:t>
            </a:r>
          </a:p>
        </p:txBody>
      </p:sp>
      <p:sp>
        <p:nvSpPr>
          <p:cNvPr id="49" name="Oval 48"/>
          <p:cNvSpPr/>
          <p:nvPr/>
        </p:nvSpPr>
        <p:spPr>
          <a:xfrm>
            <a:off x="8065008" y="4745736"/>
            <a:ext cx="128016" cy="128016"/>
          </a:xfrm>
          <a:prstGeom prst="ellipse">
            <a:avLst/>
          </a:prstGeom>
          <a:solidFill>
            <a:srgbClr val="CF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02752" y="4645152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深而不慢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02752" y="495604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管家腦背景先備、反射腦當下只取用</a:t>
            </a:r>
          </a:p>
        </p:txBody>
      </p:sp>
      <p:sp>
        <p:nvSpPr>
          <p:cNvPr id="52" name="Oval 51"/>
          <p:cNvSpPr/>
          <p:nvPr/>
        </p:nvSpPr>
        <p:spPr>
          <a:xfrm>
            <a:off x="8065008" y="5422392"/>
            <a:ext cx="128016" cy="128016"/>
          </a:xfrm>
          <a:prstGeom prst="ellipse">
            <a:avLst/>
          </a:prstGeom>
          <a:solidFill>
            <a:srgbClr val="3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02752" y="5321808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護城河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02752" y="563270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全自架可換引擎＋自有人格 IP，不綁每分鐘計費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40135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6382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沐寧 Munea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07 — 角色人格層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10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六種人格，同一件事：真的在乎你</a:t>
            </a:r>
          </a:p>
        </p:txBody>
      </p:sp>
      <p:pic>
        <p:nvPicPr>
          <p:cNvPr id="5" name="Picture 4" descr="avatar-cast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10835640" cy="2369785"/>
          </a:xfrm>
          <a:prstGeom prst="roundRect">
            <a:avLst>
              <a:gd name="adj" fmla="val 3000"/>
            </a:avLst>
          </a:prstGeom>
          <a:effectLst>
            <a:outerShdw blurRad="128016" dist="82296" dir="5400000" rotWithShape="0">
              <a:srgbClr val="1F3C34">
                <a:alpha val="60000"/>
              </a:srgbClr>
            </a:outerShdw>
          </a:effectLst>
        </p:spPr>
      </p:pic>
      <p:sp>
        <p:nvSpPr>
          <p:cNvPr id="6" name="Rounded Rectangle 5"/>
          <p:cNvSpPr/>
          <p:nvPr/>
        </p:nvSpPr>
        <p:spPr>
          <a:xfrm>
            <a:off x="566928" y="5074920"/>
            <a:ext cx="11073384" cy="960120"/>
          </a:xfrm>
          <a:prstGeom prst="roundRect">
            <a:avLst>
              <a:gd name="adj" fmla="val 14000"/>
            </a:avLst>
          </a:prstGeom>
          <a:solidFill>
            <a:srgbClr val="D9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5074920"/>
            <a:ext cx="1033272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4000"/>
              </a:lnSpc>
            </a:pPr>
            <a:r>
              <a:rPr sz="1400" b="1">
                <a:solidFill>
                  <a:srgbClr val="236C66"/>
                </a:solidFill>
                <a:latin typeface="Noto Sans TC"/>
                <a:ea typeface="Noto Sans TC"/>
                <a:cs typeface="Noto Sans TC"/>
              </a:rPr>
              <a:t>使用者可以替角色命名</a:t>
            </a:r>
            <a:r>
              <a:rPr sz="140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（改名不改人格）；換角色，才改變語氣、聲音與臉。四位真人＋一貓一狗，從 8 歲到 80 歲都成立——不再把陪伴鎖死在「長輩」。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0135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沐寧 Munea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08 — 全家照護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10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子女買、長輩用——全家一起才成立</a:t>
            </a:r>
          </a:p>
        </p:txBody>
      </p:sp>
      <p:pic>
        <p:nvPicPr>
          <p:cNvPr id="5" name="Picture 4" descr="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2112654" cy="4572000"/>
          </a:xfrm>
          <a:prstGeom prst="roundRect">
            <a:avLst>
              <a:gd name="adj" fmla="val 8000"/>
            </a:avLst>
          </a:prstGeom>
          <a:effectLst>
            <a:outerShdw blurRad="128016" dist="82296" dir="5400000" rotWithShape="0">
              <a:srgbClr val="1F3C34">
                <a:alpha val="60000"/>
              </a:srgbClr>
            </a:outerShdw>
          </a:effectLst>
        </p:spPr>
      </p:pic>
      <p:sp>
        <p:nvSpPr>
          <p:cNvPr id="6" name="Oval 5"/>
          <p:cNvSpPr/>
          <p:nvPr/>
        </p:nvSpPr>
        <p:spPr>
          <a:xfrm>
            <a:off x="4343400" y="1965960"/>
            <a:ext cx="566928" cy="566928"/>
          </a:xfrm>
          <a:prstGeom prst="ellipse">
            <a:avLst/>
          </a:prstGeom>
          <a:solidFill>
            <a:srgbClr val="3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94767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9784" y="1911095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家人健康圈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9784" y="2331720"/>
            <a:ext cx="649224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一起走路挑戰、家庭活動、聚餐 RSVP、家庭記錄簿</a:t>
            </a:r>
          </a:p>
        </p:txBody>
      </p:sp>
      <p:sp>
        <p:nvSpPr>
          <p:cNvPr id="10" name="Oval 9"/>
          <p:cNvSpPr/>
          <p:nvPr/>
        </p:nvSpPr>
        <p:spPr>
          <a:xfrm>
            <a:off x="4343400" y="3172968"/>
            <a:ext cx="566928" cy="566928"/>
          </a:xfrm>
          <a:prstGeom prst="ellipse">
            <a:avLst/>
          </a:prstGeom>
          <a:solidFill>
            <a:srgbClr val="D98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3154679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9784" y="3118103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長輩端／子女端分離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9784" y="3538727"/>
            <a:ext cx="649224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長輩只有「陪伴」，管理與儀表板都在子女端</a:t>
            </a:r>
          </a:p>
        </p:txBody>
      </p:sp>
      <p:sp>
        <p:nvSpPr>
          <p:cNvPr id="14" name="Oval 13"/>
          <p:cNvSpPr/>
          <p:nvPr/>
        </p:nvSpPr>
        <p:spPr>
          <a:xfrm>
            <a:off x="4343400" y="4379976"/>
            <a:ext cx="566928" cy="566928"/>
          </a:xfrm>
          <a:prstGeom prst="ellipse">
            <a:avLst/>
          </a:prstGeom>
          <a:solidFill>
            <a:srgbClr val="236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436168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9784" y="4325112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子女安心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4745736"/>
            <a:ext cx="649224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每天知道「媽媽有沒有跟寧寧說到話」，不必打電話問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5623560"/>
            <a:ext cx="7315200" cy="749808"/>
          </a:xfrm>
          <a:prstGeom prst="roundRect">
            <a:avLst>
              <a:gd name="adj" fmla="val 16000"/>
            </a:avLst>
          </a:prstGeom>
          <a:solidFill>
            <a:srgbClr val="F6E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5623560"/>
            <a:ext cx="676656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A8611E"/>
                </a:solidFill>
                <a:latin typeface="Noto Sans TC"/>
                <a:ea typeface="Noto Sans TC"/>
                <a:cs typeface="Noto Sans TC"/>
              </a:rPr>
              <a:t>對標 ElliQ（2026）：</a:t>
            </a:r>
            <a:r>
              <a:rPr sz="125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家人端管理 App 是子女願意代裝的核心動機；其使用者 93% 感到孤獨感下降（2026）。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0135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沐寧 Munea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09 — 負責任設計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陪伴，但守住邊界</a:t>
            </a:r>
          </a:p>
        </p:txBody>
      </p:sp>
      <p:pic>
        <p:nvPicPr>
          <p:cNvPr id="5" name="Picture 4" descr="MedRemi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2112654" cy="4572000"/>
          </a:xfrm>
          <a:prstGeom prst="roundRect">
            <a:avLst>
              <a:gd name="adj" fmla="val 8000"/>
            </a:avLst>
          </a:prstGeom>
          <a:effectLst>
            <a:outerShdw blurRad="128016" dist="82296" dir="5400000" rotWithShape="0">
              <a:srgbClr val="1F3C34">
                <a:alpha val="60000"/>
              </a:srgbClr>
            </a:outerShdw>
          </a:effectLst>
        </p:spPr>
      </p:pic>
      <p:sp>
        <p:nvSpPr>
          <p:cNvPr id="6" name="Oval 5"/>
          <p:cNvSpPr/>
          <p:nvPr/>
        </p:nvSpPr>
        <p:spPr>
          <a:xfrm>
            <a:off x="4343400" y="1874519"/>
            <a:ext cx="566928" cy="566928"/>
          </a:xfrm>
          <a:prstGeom prst="ellipse">
            <a:avLst/>
          </a:prstGeom>
          <a:solidFill>
            <a:srgbClr val="3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856231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9784" y="1819655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非醫療軟體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9784" y="2240279"/>
            <a:ext cx="649224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不診斷、不治療、不取代醫生</a:t>
            </a:r>
          </a:p>
        </p:txBody>
      </p:sp>
      <p:sp>
        <p:nvSpPr>
          <p:cNvPr id="10" name="Oval 9"/>
          <p:cNvSpPr/>
          <p:nvPr/>
        </p:nvSpPr>
        <p:spPr>
          <a:xfrm>
            <a:off x="4343400" y="2953511"/>
            <a:ext cx="566928" cy="566928"/>
          </a:xfrm>
          <a:prstGeom prst="ellipse">
            <a:avLst/>
          </a:prstGeom>
          <a:solidFill>
            <a:srgbClr val="D98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935223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9784" y="2898647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用藥＝提醒（鬧鐘）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9784" y="3319271"/>
            <a:ext cx="649224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記得吃藥，但不給個別用藥建議</a:t>
            </a:r>
          </a:p>
        </p:txBody>
      </p:sp>
      <p:sp>
        <p:nvSpPr>
          <p:cNvPr id="14" name="Oval 13"/>
          <p:cNvSpPr/>
          <p:nvPr/>
        </p:nvSpPr>
        <p:spPr>
          <a:xfrm>
            <a:off x="4343400" y="4032503"/>
            <a:ext cx="566928" cy="566928"/>
          </a:xfrm>
          <a:prstGeom prst="ellipse">
            <a:avLst/>
          </a:prstGeom>
          <a:solidFill>
            <a:srgbClr val="236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4014215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9784" y="3977639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情緒陪伴 ≠ 諮商治療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4398264"/>
            <a:ext cx="649224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是陪你，不是替你看病</a:t>
            </a:r>
          </a:p>
        </p:txBody>
      </p:sp>
      <p:sp>
        <p:nvSpPr>
          <p:cNvPr id="18" name="Oval 17"/>
          <p:cNvSpPr/>
          <p:nvPr/>
        </p:nvSpPr>
        <p:spPr>
          <a:xfrm>
            <a:off x="4343400" y="5111495"/>
            <a:ext cx="566928" cy="566928"/>
          </a:xfrm>
          <a:prstGeom prst="ellipse">
            <a:avLst/>
          </a:prstGeom>
          <a:solidFill>
            <a:srgbClr val="E0B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5093207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9784" y="5056631"/>
            <a:ext cx="6492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危機＝轉介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4" y="5477255"/>
            <a:ext cx="649224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通知家人 / 1925 / 119，AI 不自己扛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6089904"/>
            <a:ext cx="6537960" cy="548640"/>
          </a:xfrm>
          <a:prstGeom prst="roundRect">
            <a:avLst>
              <a:gd name="adj" fmla="val 22000"/>
            </a:avLst>
          </a:prstGeom>
          <a:solidFill>
            <a:srgbClr val="D9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6089904"/>
            <a:ext cx="59893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36C66"/>
                </a:solidFill>
                <a:latin typeface="Noto Sans TC"/>
                <a:ea typeface="Noto Sans TC"/>
                <a:cs typeface="Noto Sans TC"/>
              </a:rPr>
              <a:t>安全網是第一天就在的核心，不是之後才補——情感陪伴品類的生死線。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0135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沐寧 Munea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10 — 競爭定位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3A352E"/>
                </a:solidFill>
                <a:latin typeface="Noto Serif TC"/>
                <a:ea typeface="Noto Serif TC"/>
                <a:cs typeface="Noto Serif TC"/>
              </a:rPr>
              <a:t>我們站在哪裡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10512"/>
            <a:ext cx="11073384" cy="512064"/>
          </a:xfrm>
          <a:prstGeom prst="roundRect">
            <a:avLst>
              <a:gd name="adj" fmla="val 12000"/>
            </a:avLst>
          </a:prstGeom>
          <a:solidFill>
            <a:srgbClr val="364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810512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62656" y="1810512"/>
            <a:ext cx="1574596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華語 / 台語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0132" y="1810512"/>
            <a:ext cx="1574596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純 App·隨身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609" y="1810512"/>
            <a:ext cx="1574596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家人連動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5086" y="1810512"/>
            <a:ext cx="1574596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危機安全網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2563" y="1810512"/>
            <a:ext cx="1574596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情感陪伴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414016"/>
            <a:ext cx="11073384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14016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ElliQ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241401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B9B3A6"/>
                </a:solidFill>
                <a:latin typeface="Noto Sans TC"/>
                <a:ea typeface="Noto Sans TC"/>
                <a:cs typeface="Noto Sans TC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404" y="241401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B9B3A6"/>
                </a:solidFill>
                <a:latin typeface="Noto Sans TC"/>
                <a:ea typeface="Noto Sans TC"/>
                <a:cs typeface="Noto Sans TC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7881" y="241401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5358" y="241401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B9B3A6"/>
                </a:solidFill>
                <a:latin typeface="Noto Sans TC"/>
                <a:ea typeface="Noto Sans TC"/>
                <a:cs typeface="Noto Sans TC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82835" y="241401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939796"/>
            <a:ext cx="11073384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939796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Replika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2928" y="293979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B9B3A6"/>
                </a:solidFill>
                <a:latin typeface="Noto Sans TC"/>
                <a:ea typeface="Noto Sans TC"/>
                <a:cs typeface="Noto Sans TC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0404" y="293979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7881" y="293979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B9B3A6"/>
                </a:solidFill>
                <a:latin typeface="Noto Sans TC"/>
                <a:ea typeface="Noto Sans TC"/>
                <a:cs typeface="Noto Sans TC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5358" y="293979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B9B3A6"/>
                </a:solidFill>
                <a:latin typeface="Noto Sans TC"/>
                <a:ea typeface="Noto Sans TC"/>
                <a:cs typeface="Noto Sans TC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82835" y="293979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465576"/>
            <a:ext cx="11073384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465576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character.ai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2928" y="346557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B9B3A6"/>
                </a:solidFill>
                <a:latin typeface="Noto Sans TC"/>
                <a:ea typeface="Noto Sans TC"/>
                <a:cs typeface="Noto Sans TC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0404" y="346557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7881" y="346557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B9B3A6"/>
                </a:solidFill>
                <a:latin typeface="Noto Sans TC"/>
                <a:ea typeface="Noto Sans TC"/>
                <a:cs typeface="Noto Sans TC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5358" y="346557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55B4D"/>
                </a:solidFill>
                <a:latin typeface="Noto Sans TC"/>
                <a:ea typeface="Noto Sans TC"/>
                <a:cs typeface="Noto Sans TC"/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82835" y="346557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991356"/>
            <a:ext cx="11073384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991356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Hyodol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2928" y="399135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B9B3A6"/>
                </a:solidFill>
                <a:latin typeface="Noto Sans TC"/>
                <a:ea typeface="Noto Sans TC"/>
                <a:cs typeface="Noto Sans TC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0404" y="399135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B9B3A6"/>
                </a:solidFill>
                <a:latin typeface="Noto Sans TC"/>
                <a:ea typeface="Noto Sans TC"/>
                <a:cs typeface="Noto Sans TC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7881" y="399135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5358" y="399135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82835" y="399135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4517136"/>
            <a:ext cx="11073384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517136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352E"/>
                </a:solidFill>
                <a:latin typeface="Noto Sans TC"/>
                <a:ea typeface="Noto Sans TC"/>
                <a:cs typeface="Noto Sans TC"/>
              </a:rPr>
              <a:t>Medisafe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52928" y="451713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B9B3A6"/>
                </a:solidFill>
                <a:latin typeface="Noto Sans TC"/>
                <a:ea typeface="Noto Sans TC"/>
                <a:cs typeface="Noto Sans TC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0404" y="451713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67881" y="451713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25358" y="451713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B9B3A6"/>
                </a:solidFill>
                <a:latin typeface="Noto Sans TC"/>
                <a:ea typeface="Noto Sans TC"/>
                <a:cs typeface="Noto Sans TC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82835" y="451713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B9B3A6"/>
                </a:solidFill>
                <a:latin typeface="Noto Sans TC"/>
                <a:ea typeface="Noto Sans TC"/>
                <a:cs typeface="Noto Sans TC"/>
              </a:rPr>
              <a:t>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5042916"/>
            <a:ext cx="11073384" cy="475488"/>
          </a:xfrm>
          <a:prstGeom prst="roundRect">
            <a:avLst>
              <a:gd name="adj" fmla="val 12000"/>
            </a:avLst>
          </a:prstGeom>
          <a:solidFill>
            <a:srgbClr val="D9EFE8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042916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36C66"/>
                </a:solidFill>
                <a:latin typeface="Noto Sans TC"/>
                <a:ea typeface="Noto Sans TC"/>
                <a:cs typeface="Noto Sans TC"/>
              </a:rPr>
              <a:t>沐寧 Munea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52928" y="504291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0404" y="504291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67881" y="504291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25358" y="504291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82835" y="5042916"/>
            <a:ext cx="175747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A8A0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5797296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1">
                <a:solidFill>
                  <a:srgbClr val="236C66"/>
                </a:solidFill>
                <a:latin typeface="Noto Sans TC"/>
                <a:ea typeface="Noto Sans TC"/>
                <a:cs typeface="Noto Sans TC"/>
              </a:rPr>
              <a:t>台灣 C 端＝藍海：</a:t>
            </a:r>
            <a:r>
              <a:rPr sz="125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本土強者（智齡科技）走 B2B 機構端，家庭陪伴這塊沒有贏家。</a:t>
            </a:r>
          </a:p>
          <a:p>
            <a:pPr algn="l">
              <a:lnSpc>
                <a:spcPct val="128000"/>
              </a:lnSpc>
            </a:pPr>
            <a:r>
              <a:rPr sz="1250" b="0">
                <a:solidFill>
                  <a:srgbClr val="4A5651"/>
                </a:solidFill>
                <a:latin typeface="Noto Sans TC"/>
                <a:ea typeface="Noto Sans TC"/>
                <a:cs typeface="Noto Sans TC"/>
              </a:rPr>
              <a:t>窗口期估 12–18 個月——先發卡位、做對台語與長者體驗，有機會搶下位置。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40135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6382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7873"/>
                </a:solidFill>
                <a:latin typeface="Noto Sans TC"/>
                <a:ea typeface="Noto Sans TC"/>
                <a:cs typeface="Noto Sans TC"/>
              </a:rPr>
              <a:t>沐寧 Munea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11 — 為什麼是現在 × 怎麼一起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先發卡位，一起把量做出來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965960"/>
            <a:ext cx="146304" cy="146304"/>
          </a:xfrm>
          <a:prstGeom prst="ellipse">
            <a:avLst/>
          </a:prstGeom>
          <a:solidFill>
            <a:srgbClr val="3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8745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窗口期 12–18 個月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49424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巨頭語音在逼近、小玩家在冒頭，但都還沒站穩。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200400"/>
            <a:ext cx="146304" cy="146304"/>
          </a:xfrm>
          <a:prstGeom prst="ellipse">
            <a:avLst/>
          </a:prstGeom>
          <a:solidFill>
            <a:srgbClr val="3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31089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已可上線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83864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iOS 優先、TestFlight 就緒，語音與記憶閉環已跑通。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434840"/>
            <a:ext cx="146304" cy="146304"/>
          </a:xfrm>
          <a:prstGeom prst="ellipse">
            <a:avLst/>
          </a:prstGeom>
          <a:solidFill>
            <a:srgbClr val="3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3434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時機剛好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718304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台灣持續超高齡；政府 2026 投入 NT$62.5 億擴大獨居服務。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1874519"/>
            <a:ext cx="2880360" cy="1874519"/>
          </a:xfrm>
          <a:prstGeom prst="roundRect">
            <a:avLst>
              <a:gd name="adj" fmla="val 12000"/>
            </a:avLst>
          </a:prstGeom>
          <a:solidFill>
            <a:srgbClr val="47564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25312" y="2157984"/>
            <a:ext cx="457200" cy="457200"/>
          </a:xfrm>
          <a:prstGeom prst="ellipse">
            <a:avLst/>
          </a:prstGeom>
          <a:solidFill>
            <a:srgbClr val="3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25312" y="21396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36423E"/>
                </a:solidFill>
                <a:latin typeface="Noto Sans TC"/>
                <a:ea typeface="Noto Sans TC"/>
                <a:cs typeface="Noto Sans TC"/>
              </a:rPr>
              <a:t>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592" y="2715768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通路 × 代裝銷售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3191256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子女端付費、長輩端使用（電信 / 3C / 零售）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1874519"/>
            <a:ext cx="2880360" cy="1874519"/>
          </a:xfrm>
          <a:prstGeom prst="roundRect">
            <a:avLst>
              <a:gd name="adj" fmla="val 12000"/>
            </a:avLst>
          </a:prstGeom>
          <a:solidFill>
            <a:srgbClr val="47564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88552" y="2157984"/>
            <a:ext cx="457200" cy="457200"/>
          </a:xfrm>
          <a:prstGeom prst="ellipse">
            <a:avLst/>
          </a:prstGeom>
          <a:solidFill>
            <a:srgbClr val="D98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21396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36423E"/>
                </a:solidFill>
                <a:latin typeface="Noto Sans TC"/>
                <a:ea typeface="Noto Sans TC"/>
                <a:cs typeface="Noto Sans TC"/>
              </a:rPr>
              <a:t>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2715768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保險 × 長照給付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3191256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ElliQ 2026 進日本＋華州 Medicaid、Hyodol 2026 進美國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0" y="3977639"/>
            <a:ext cx="2880360" cy="1874519"/>
          </a:xfrm>
          <a:prstGeom prst="roundRect">
            <a:avLst>
              <a:gd name="adj" fmla="val 12000"/>
            </a:avLst>
          </a:prstGeom>
          <a:solidFill>
            <a:srgbClr val="47564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25312" y="4261104"/>
            <a:ext cx="457200" cy="457200"/>
          </a:xfrm>
          <a:prstGeom prst="ellipse">
            <a:avLst/>
          </a:prstGeom>
          <a:solidFill>
            <a:srgbClr val="E0B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25312" y="424281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36423E"/>
                </a:solidFill>
                <a:latin typeface="Noto Sans TC"/>
                <a:ea typeface="Noto Sans TC"/>
                <a:cs typeface="Noto Sans TC"/>
              </a:rPr>
              <a:t>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9592" y="4818888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健康數據價值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9592" y="5294375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服藥順從性、情緒訊號（對標 Medisafe 藥廠變現）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3977639"/>
            <a:ext cx="2880360" cy="1874519"/>
          </a:xfrm>
          <a:prstGeom prst="roundRect">
            <a:avLst>
              <a:gd name="adj" fmla="val 12000"/>
            </a:avLst>
          </a:prstGeom>
          <a:solidFill>
            <a:srgbClr val="47564F"/>
          </a:solidFill>
          <a:ln>
            <a:noFill/>
          </a:ln>
          <a:effectLst>
            <a:outerShdw blurRad="91440" dist="50292" dir="5400000" rotWithShape="0">
              <a:srgbClr val="1F3C34">
                <a:alpha val="6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88552" y="4261104"/>
            <a:ext cx="457200" cy="457200"/>
          </a:xfrm>
          <a:prstGeom prst="ellipse">
            <a:avLst/>
          </a:prstGeom>
          <a:solidFill>
            <a:srgbClr val="CF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88552" y="424281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36423E"/>
                </a:solidFill>
                <a:latin typeface="Noto Sans TC"/>
                <a:ea typeface="Noto Sans TC"/>
                <a:cs typeface="Noto Sans TC"/>
              </a:rPr>
              <a:t>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42832" y="4818888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硬體 × 居家整合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2832" y="5294375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手機起步，未來接家用裝置與服務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40135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E8F2EE"/>
                </a:solidFill>
                <a:latin typeface="Noto Sans TC"/>
                <a:ea typeface="Noto Sans TC"/>
                <a:cs typeface="Noto Sans T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382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沐寧 Munea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63927" y="548640"/>
            <a:ext cx="7863840" cy="7863840"/>
          </a:xfrm>
          <a:prstGeom prst="ellipse">
            <a:avLst/>
          </a:prstGeom>
          <a:noFill/>
          <a:ln w="15240">
            <a:solidFill>
              <a:srgbClr val="3F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169767" y="1554480"/>
            <a:ext cx="5852160" cy="5852160"/>
          </a:xfrm>
          <a:prstGeom prst="ellipse">
            <a:avLst/>
          </a:prstGeom>
          <a:noFill/>
          <a:ln w="15240">
            <a:solidFill>
              <a:srgbClr val="3F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084167" y="2468880"/>
            <a:ext cx="4023360" cy="4023360"/>
          </a:xfrm>
          <a:prstGeom prst="ellipse">
            <a:avLst/>
          </a:prstGeom>
          <a:noFill/>
          <a:ln w="15240">
            <a:solidFill>
              <a:srgbClr val="3F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647" y="777240"/>
            <a:ext cx="914400" cy="914400"/>
          </a:xfrm>
          <a:prstGeom prst="roundRect">
            <a:avLst>
              <a:gd name="adj" fmla="val 22000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914400" y="2148840"/>
            <a:ext cx="10362895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3800" b="1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一起，讓螢幕裡的她</a:t>
            </a:r>
          </a:p>
          <a:p>
            <a:pPr algn="ctr">
              <a:lnSpc>
                <a:spcPct val="112000"/>
              </a:lnSpc>
            </a:pPr>
            <a:r>
              <a:rPr sz="3800" b="1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真的住進一個家。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CFE6DD"/>
                </a:solidFill>
                <a:latin typeface="Noto Serif TC"/>
                <a:ea typeface="Noto Serif TC"/>
                <a:cs typeface="Noto Serif TC"/>
              </a:rPr>
              <a:t>會記得你，也在乎你在乎的人。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E8F2EE"/>
                </a:solidFill>
                <a:latin typeface="Noto Sans TC"/>
                <a:ea typeface="Noto Sans TC"/>
                <a:cs typeface="Noto Sans TC"/>
              </a:rPr>
              <a:t>誠摯邀請，一起打造台灣的 AI 智慧照護陪伴。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Edward（創辦人）　·　BeyondPath / Voice Path　·　</a:t>
            </a:r>
            <a:r>
              <a:rPr sz="1300" b="0">
                <a:solidFill>
                  <a:srgbClr val="CFE6DD"/>
                </a:solidFill>
                <a:latin typeface="Noto Sans TC"/>
                <a:ea typeface="Noto Sans TC"/>
                <a:cs typeface="Noto Sans TC"/>
              </a:rPr>
              <a:t>edwardt0303@gmail.com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