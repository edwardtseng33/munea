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8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2945520" cy="498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dt" idx="25"/>
          </p:nvPr>
        </p:nvSpPr>
        <p:spPr>
          <a:xfrm>
            <a:off x="3850560" y="0"/>
            <a:ext cx="2945520" cy="498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02BF866-7554-438F-9BF3-A9660F3BA807}" type="datetime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7/31/26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zh-TW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請按這裡移動投影片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TW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按一下以編輯母片文字樣式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lvl="1" indent="0" algn="l">
              <a:lnSpc>
                <a:spcPct val="100000"/>
              </a:lnSpc>
            </a:pPr>
            <a:r>
              <a:rPr lang="zh-TW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第二層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2" indent="0" algn="l">
              <a:lnSpc>
                <a:spcPct val="100000"/>
              </a:lnSpc>
            </a:pPr>
            <a:r>
              <a:rPr lang="zh-TW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第三層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371600" lvl="3" indent="0" algn="l">
              <a:lnSpc>
                <a:spcPct val="100000"/>
              </a:lnSpc>
            </a:pPr>
            <a:r>
              <a:rPr lang="zh-TW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第四層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28800" lvl="4" indent="0" algn="l">
              <a:lnSpc>
                <a:spcPct val="100000"/>
              </a:lnSpc>
            </a:pPr>
            <a:r>
              <a:rPr lang="zh-TW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第五層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6"/>
          </p:nvPr>
        </p:nvSpPr>
        <p:spPr>
          <a:xfrm>
            <a:off x="0" y="9430200"/>
            <a:ext cx="2945520" cy="498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27"/>
          </p:nvPr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3333084-CFDA-4EAC-A78B-71D13648E5B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300CFE51-2AFB-4A10-878C-E71E6B24956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49058CBD-C655-4C2C-A144-C8D36D0CBB4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A414E66-9ED1-4EA7-975C-4DDEEA640AC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8F48647-CF04-49F4-AAB7-90C09A15F42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5889C76-D77A-4155-902E-74976A8C435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1AC32BA-46E5-4DB5-9DB3-D91AAF4D6E1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3914F90-2D49-4844-9BEB-DA95B0067D5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2DCC76E-E79F-488D-9E01-FA221862F23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D705127-0CB1-4375-99D4-A79876662E6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372375F-DB7B-465E-A1F2-0AA537A3A4BA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新細明體"/>
              </a:rPr>
              <a:t>&lt;編號&gt;</a:t>
            </a:fld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4F92D51-4EB5-4A29-8AAD-5B237279FF73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新細明體"/>
              </a:rPr>
              <a:t>&lt;編號&gt;</a:t>
            </a:fld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275B703-758F-46D9-B2FC-AD1ABB0882FD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新細明體"/>
              </a:rPr>
              <a:t>&lt;編號&gt;</a:t>
            </a:fld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27E25F4-CF51-4C91-9A39-970A6BA9F50F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新細明體"/>
              </a:rPr>
              <a:t>&lt;編號&gt;</a:t>
            </a:fld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C0C63B4-4778-4243-9187-497969F1F46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4E640649-7569-40BD-9DE0-3D30A35BB8E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CC5D9BC3-1666-487F-9638-E3AC70C7347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4235C0C-2B02-4829-8B59-9C58D0ED7FE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C5E967E-A034-4703-A952-FF0BD23F9D4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681A6ED-781C-43E4-8DEF-5085D2B973B6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新細明體"/>
              </a:rPr>
              <a:t>&lt;編號&gt;</a:t>
            </a:fld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A0BB913-B11E-4046-B460-6E236E8EFB2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4D145F41-6267-43E5-9D53-D732072B304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C913AF62-D1C7-4825-BA33-38262BD0655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192656C-38E4-402C-A4BE-9C841F42E00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38221E31-61BC-4EEC-BBC2-C289AFEE894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422280" y="1241280"/>
            <a:ext cx="5952960" cy="33498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79680" y="4777920"/>
            <a:ext cx="5438160" cy="39092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投影片編號版面配置區 3"/>
          <p:cNvSpPr txBox="1"/>
          <p:nvPr/>
        </p:nvSpPr>
        <p:spPr>
          <a:xfrm>
            <a:off x="3850560" y="9430200"/>
            <a:ext cx="2945520" cy="498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2CE15BE-D292-4CA9-AD4A-70456E4C92A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新細明體"/>
              </a:rPr>
              <a:t>&lt;編號&gt;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1_Office-佈景主題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5"/>
          <p:cNvPicPr/>
          <p:nvPr/>
        </p:nvPicPr>
        <p:blipFill>
          <a:blip r:embed="rId2"/>
          <a:srcRect l="0" t="0" r="50001" b="54168"/>
          <a:stretch/>
        </p:blipFill>
        <p:spPr>
          <a:xfrm>
            <a:off x="0" y="7560"/>
            <a:ext cx="12192120" cy="6858000"/>
          </a:xfrm>
          <a:prstGeom prst="rect">
            <a:avLst/>
          </a:prstGeom>
          <a:noFill/>
          <a:ln w="1908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90000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90000"/>
              </a:lnSpc>
              <a:buNone/>
              <a:defRPr lang="zh-TW" sz="40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zh-TW" sz="40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按一下以編輯母片標題樣式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1pPr>
            <a:lvl2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24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2pPr>
            <a:lvl3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3pPr>
            <a:lvl4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4pPr>
            <a:lvl5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按一下以編輯母片文字樣式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4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第二層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第三層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第四層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第五層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新細明體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D61FFAF8-0FFA-4F87-873D-A52CC7E1592E}" type="datetime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新細明體"/>
              </a:rPr>
              <a:t>7/31/26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DB0DCF6-1DC0-4082-9640-366C2B5A39CE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&lt;編號&gt;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1-title-標題投影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5"/>
          <p:cNvPicPr/>
          <p:nvPr/>
        </p:nvPicPr>
        <p:blipFill>
          <a:blip r:embed="rId2"/>
          <a:srcRect l="0" t="0" r="50001" b="54168"/>
          <a:stretch/>
        </p:blipFill>
        <p:spPr>
          <a:xfrm>
            <a:off x="0" y="7560"/>
            <a:ext cx="12192120" cy="6858000"/>
          </a:xfrm>
          <a:prstGeom prst="rect">
            <a:avLst/>
          </a:prstGeom>
          <a:noFill/>
          <a:ln w="1908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b" anchorCtr="1">
            <a:noAutofit/>
          </a:bodyPr>
          <a:lstStyle>
            <a:lvl1pPr indent="0" algn="ctr">
              <a:lnSpc>
                <a:spcPct val="90000"/>
              </a:lnSpc>
              <a:buNone/>
              <a:defRPr lang="zh-TW" sz="60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lang="zh-TW" sz="60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按一下以編輯母片標題樣式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新細明體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4DD7B0D5-61A7-44A9-A356-69BCDA5FAB6F}" type="datetime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新細明體"/>
              </a:rPr>
              <a:t>7/31/26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9"/>
          </p:nvPr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4EFF1B8-1FED-4BAC-A663-547F398CE4A3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&lt;編號&gt;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請按這裡編輯大綱文字格式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第二個大綱層次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第三個大綱層次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1-title-標題投影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5"/>
          <p:cNvPicPr/>
          <p:nvPr/>
        </p:nvPicPr>
        <p:blipFill>
          <a:blip r:embed="rId2"/>
          <a:srcRect l="0" t="0" r="50001" b="54168"/>
          <a:stretch/>
        </p:blipFill>
        <p:spPr>
          <a:xfrm>
            <a:off x="0" y="7560"/>
            <a:ext cx="12192120" cy="6858000"/>
          </a:xfrm>
          <a:prstGeom prst="rect">
            <a:avLst/>
          </a:prstGeom>
          <a:noFill/>
          <a:ln w="1908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b" anchorCtr="1">
            <a:noAutofit/>
          </a:bodyPr>
          <a:lstStyle>
            <a:lvl1pPr indent="0" algn="ctr">
              <a:lnSpc>
                <a:spcPct val="90000"/>
              </a:lnSpc>
              <a:buNone/>
              <a:defRPr lang="zh-TW" sz="60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lang="zh-TW" sz="60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按一下以編輯母片標題樣式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新細明體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3B3C64B2-106B-4B54-B8A8-CDE5A6CA6AF9}" type="datetime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新細明體"/>
              </a:rPr>
              <a:t>7/31/26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6"/>
          </p:nvPr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CA88C49-555C-4FC8-8BA7-EF38EF1566CB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&lt;編號&gt;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請按這裡編輯大綱文字格式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第二個大綱層次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第三個大綱層次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2-blank-空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5"/>
          <p:cNvPicPr/>
          <p:nvPr/>
        </p:nvPicPr>
        <p:blipFill>
          <a:blip r:embed="rId2"/>
          <a:srcRect l="0" t="0" r="50001" b="54168"/>
          <a:stretch/>
        </p:blipFill>
        <p:spPr>
          <a:xfrm>
            <a:off x="0" y="7560"/>
            <a:ext cx="12192120" cy="6858000"/>
          </a:xfrm>
          <a:prstGeom prst="rect">
            <a:avLst/>
          </a:prstGeom>
          <a:noFill/>
          <a:ln w="1908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新細明體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9CCB14F6-5DF9-4710-A5E2-023FD021B310}" type="datetime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新細明體"/>
              </a:rPr>
              <a:t>7/31/26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12"/>
          </p:nvPr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971624-318B-4E23-AA5B-2524E118750B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&lt;編號&gt;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TW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TW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請按這裡編輯題名文字格式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請按這裡編輯大綱文字格式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第二個大綱層次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第三個大綱層次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3-cust-自訂版面配置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5"/>
          <p:cNvPicPr/>
          <p:nvPr/>
        </p:nvPicPr>
        <p:blipFill>
          <a:blip r:embed="rId2"/>
          <a:srcRect l="0" t="0" r="50001" b="54168"/>
          <a:stretch/>
        </p:blipFill>
        <p:spPr>
          <a:xfrm>
            <a:off x="0" y="7560"/>
            <a:ext cx="12192120" cy="6858000"/>
          </a:xfrm>
          <a:prstGeom prst="rect">
            <a:avLst/>
          </a:prstGeom>
          <a:noFill/>
          <a:ln w="1908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35880" y="178920"/>
            <a:ext cx="11520000" cy="68400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zh-TW" sz="3200" b="1" u="none" strike="noStrike">
                <a:solidFill>
                  <a:srgbClr val="000000"/>
                </a:solidFill>
                <a:effectLst/>
                <a:uFillTx/>
                <a:latin typeface="Microsoft YaHei"/>
                <a:ea typeface="Microsoft YaHe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Microsoft YaHei"/>
                <a:ea typeface="Microsoft YaHei"/>
              </a:rPr>
              <a:t>按一下以編輯母片標題樣式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新細明體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EC825802-3BF6-4DD1-BE7D-CDA46FBF78B8}" type="datetime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新細明體"/>
              </a:rPr>
              <a:t>7/31/26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0" name="直線接點 5"/>
          <p:cNvCxnSpPr/>
          <p:nvPr/>
        </p:nvCxnSpPr>
        <p:spPr>
          <a:xfrm>
            <a:off x="340920" y="934200"/>
            <a:ext cx="11515320" cy="360"/>
          </a:xfrm>
          <a:prstGeom prst="straightConnector1">
            <a:avLst/>
          </a:prstGeom>
          <a:ln w="6480">
            <a:solidFill>
              <a:srgbClr val="1F323B"/>
            </a:solidFill>
            <a:miter/>
          </a:ln>
        </p:spPr>
      </p:cxn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336600" y="1219320"/>
            <a:ext cx="11514960" cy="506592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1pPr>
            <a:lvl2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24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2pPr>
            <a:lvl3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3pPr>
            <a:lvl4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4pPr>
            <a:lvl5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按一下以編輯母片文字樣式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4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第二層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第三層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第四層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第五層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40437A9-F0A5-49EC-911F-9AAAD95EE602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&lt;編號&gt;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4-cust-1_自訂版面配置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5"/>
          <p:cNvPicPr/>
          <p:nvPr/>
        </p:nvPicPr>
        <p:blipFill>
          <a:blip r:embed="rId2"/>
          <a:srcRect l="0" t="0" r="50001" b="54168"/>
          <a:stretch/>
        </p:blipFill>
        <p:spPr>
          <a:xfrm>
            <a:off x="0" y="7560"/>
            <a:ext cx="12192120" cy="6858000"/>
          </a:xfrm>
          <a:prstGeom prst="rect">
            <a:avLst/>
          </a:prstGeom>
          <a:noFill/>
          <a:ln w="1908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35880" y="178920"/>
            <a:ext cx="11520000" cy="86400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90000"/>
              </a:lnSpc>
              <a:buNone/>
              <a:def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按一下以編輯母片標題樣式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新細明體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E600F52C-5DEE-4515-AA66-C8DA4AE2EED0}" type="datetime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新細明體"/>
              </a:rPr>
              <a:t>7/31/26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sldNum" idx="18"/>
          </p:nvPr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39F560-D0B5-45D5-B9A5-5C9CFD2C1ED6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&lt;編號&gt;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5-cust-2_自訂版面配置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5"/>
          <p:cNvPicPr/>
          <p:nvPr/>
        </p:nvPicPr>
        <p:blipFill>
          <a:blip r:embed="rId2"/>
          <a:srcRect l="0" t="0" r="50001" b="54168"/>
          <a:stretch/>
        </p:blipFill>
        <p:spPr>
          <a:xfrm>
            <a:off x="0" y="7560"/>
            <a:ext cx="12192120" cy="6858000"/>
          </a:xfrm>
          <a:prstGeom prst="rect">
            <a:avLst/>
          </a:prstGeom>
          <a:noFill/>
          <a:ln w="1908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35880" y="178920"/>
            <a:ext cx="11520000" cy="68400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zh-TW" sz="3200" b="1" u="none" strike="noStrike">
                <a:solidFill>
                  <a:srgbClr val="000000"/>
                </a:solidFill>
                <a:effectLst/>
                <a:uFillTx/>
                <a:latin typeface="Microsoft YaHei"/>
                <a:ea typeface="Microsoft YaHe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Microsoft YaHei"/>
                <a:ea typeface="Microsoft YaHei"/>
              </a:rPr>
              <a:t>按一下以編輯母片標題樣式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新細明體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AC679C10-5F11-4FEC-AE97-9F3128DC9917}" type="datetime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新細明體"/>
              </a:rPr>
              <a:t>7/31/26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2" name="直線接點 5"/>
          <p:cNvCxnSpPr/>
          <p:nvPr/>
        </p:nvCxnSpPr>
        <p:spPr>
          <a:xfrm>
            <a:off x="340920" y="862920"/>
            <a:ext cx="11515320" cy="360"/>
          </a:xfrm>
          <a:prstGeom prst="straightConnector1">
            <a:avLst/>
          </a:prstGeom>
          <a:ln w="6480">
            <a:solidFill>
              <a:srgbClr val="1F323B"/>
            </a:solidFill>
            <a:miter/>
          </a:ln>
        </p:spPr>
      </p:cxnSp>
      <p:sp>
        <p:nvSpPr>
          <p:cNvPr id="43" name="PlaceHolder 4"/>
          <p:cNvSpPr>
            <a:spLocks noGrp="1"/>
          </p:cNvSpPr>
          <p:nvPr>
            <p:ph type="sldNum" idx="21"/>
          </p:nvPr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8C92ED3-3B31-41F5-950A-FD6E35ABA7E9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&lt;編號&gt;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6-cust-標題及物件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5"/>
          <p:cNvPicPr/>
          <p:nvPr/>
        </p:nvPicPr>
        <p:blipFill>
          <a:blip r:embed="rId2"/>
          <a:srcRect l="0" t="0" r="50001" b="54168"/>
          <a:stretch/>
        </p:blipFill>
        <p:spPr>
          <a:xfrm>
            <a:off x="0" y="7560"/>
            <a:ext cx="12192120" cy="6858000"/>
          </a:xfrm>
          <a:prstGeom prst="rect">
            <a:avLst/>
          </a:prstGeom>
          <a:noFill/>
          <a:ln w="1908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新細明體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23055D96-DBD9-426F-92AC-D0BE9FA0FEC6}" type="datetime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新細明體"/>
              </a:rPr>
              <a:t>7/31/26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title"/>
          </p:nvPr>
        </p:nvSpPr>
        <p:spPr>
          <a:xfrm>
            <a:off x="515880" y="358920"/>
            <a:ext cx="11160000" cy="8031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90000"/>
              </a:lnSpc>
              <a:buNone/>
              <a:defRPr lang="zh-TW" sz="40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zh-TW" sz="40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按一下以編輯母片標題樣式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515880" y="1268640"/>
            <a:ext cx="11160000" cy="48243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zh-TW" sz="2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sz="2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按一下以編輯母片文字樣式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第二層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第三層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第四層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第五層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24"/>
          </p:nvPr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89D8305-3115-4E10-AD28-D36748374186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&lt;編號&gt;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1908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請按這裡編輯大綱文字格式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第二個大綱層次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第三個大綱層次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等腰三角形 9"/>
          <p:cNvSpPr/>
          <p:nvPr/>
        </p:nvSpPr>
        <p:spPr>
          <a:xfrm>
            <a:off x="10080" y="5533920"/>
            <a:ext cx="9001080" cy="1324080"/>
          </a:xfrm>
          <a:custGeom>
            <a:avLst/>
            <a:gdLst>
              <a:gd name="textAreaLeft" fmla="*/ 0 w 9001080"/>
              <a:gd name="textAreaRight" fmla="*/ 4500720 w 9001080"/>
              <a:gd name="textAreaTop" fmla="*/ 662040 h 1324080"/>
              <a:gd name="textAreaBottom" fmla="*/ 1324440 h 1324080"/>
            </a:gdLst>
            <a:ahLst/>
            <a:cxnLst/>
            <a:rect l="textAreaLeft" t="textAreaTop" r="textAreaRight" b="textAreaBottom"/>
            <a:pathLst>
              <a:path w="146803" h="21600">
                <a:moveTo>
                  <a:pt x="0" y="21600"/>
                </a:moveTo>
                <a:lnTo>
                  <a:pt x="0" y="0"/>
                </a:lnTo>
                <a:lnTo>
                  <a:pt x="146803" y="21600"/>
                </a:lnTo>
                <a:close/>
              </a:path>
            </a:pathLst>
          </a:custGeom>
          <a:solidFill>
            <a:srgbClr val="CC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等腰三角形 10"/>
          <p:cNvSpPr/>
          <p:nvPr/>
        </p:nvSpPr>
        <p:spPr>
          <a:xfrm flipH="1">
            <a:off x="3180240" y="5232960"/>
            <a:ext cx="9001080" cy="1625040"/>
          </a:xfrm>
          <a:custGeom>
            <a:avLst/>
            <a:gdLst>
              <a:gd name="textAreaLeft" fmla="*/ -360 w 9001080"/>
              <a:gd name="textAreaRight" fmla="*/ 4500360 w 9001080"/>
              <a:gd name="textAreaTop" fmla="*/ 812520 h 1625040"/>
              <a:gd name="textAreaBottom" fmla="*/ 1625400 h 1625040"/>
            </a:gdLst>
            <a:ahLst/>
            <a:cxnLst/>
            <a:rect l="textAreaLeft" t="textAreaTop" r="textAreaRight" b="textAreaBottom"/>
            <a:pathLst>
              <a:path w="119620" h="21600">
                <a:moveTo>
                  <a:pt x="0" y="21600"/>
                </a:moveTo>
                <a:lnTo>
                  <a:pt x="0" y="0"/>
                </a:lnTo>
                <a:lnTo>
                  <a:pt x="119620" y="21600"/>
                </a:lnTo>
                <a:close/>
              </a:path>
            </a:pathLst>
          </a:custGeom>
          <a:solidFill>
            <a:srgbClr val="162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9" name="直線接點 8"/>
          <p:cNvCxnSpPr/>
          <p:nvPr/>
        </p:nvCxnSpPr>
        <p:spPr>
          <a:xfrm>
            <a:off x="3081240" y="1499760"/>
            <a:ext cx="5992560" cy="360"/>
          </a:xfrm>
          <a:prstGeom prst="straightConnector1">
            <a:avLst/>
          </a:prstGeom>
          <a:ln w="380880">
            <a:solidFill>
              <a:srgbClr val="C9DEE9"/>
            </a:solidFill>
            <a:miter/>
          </a:ln>
        </p:spPr>
      </p:cxn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154960" y="88560"/>
            <a:ext cx="7856640" cy="18759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p>
            <a:pPr indent="0" algn="ctr">
              <a:lnSpc>
                <a:spcPct val="150000"/>
              </a:lnSpc>
              <a:buNone/>
            </a:pPr>
            <a:r>
              <a:rPr lang="zh-TW" sz="24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數位發展部數位產業署</a:t>
            </a:r>
            <a:br>
              <a:rPr sz="2400"/>
            </a:b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AI</a:t>
            </a:r>
            <a:r>
              <a:rPr lang="zh-TW" sz="40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創新服務研發補助計畫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ectangle 8"/>
          <p:cNvSpPr/>
          <p:nvPr/>
        </p:nvSpPr>
        <p:spPr>
          <a:xfrm>
            <a:off x="3368520" y="4658760"/>
            <a:ext cx="5454720" cy="13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 anchorCtr="1" wrap="square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>
                <a:solidFill>
                  <a:srgbClr val="212121"/>
                </a:solidFill>
                <a:latin typeface="微軟正黑體"/>
              </a:rPr>
              <a:t>嘉瑪科技股份有限公司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12121"/>
                </a:solidFill>
                <a:latin typeface="微軟正黑體"/>
              </a:rPr>
              <a:t>報告人：曾宇晞（計畫主持人／產品負責人）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12121"/>
                </a:solidFill>
                <a:latin typeface="微軟正黑體"/>
              </a:rPr>
              <a:t>中華民國 115 年 8 月 12 日</a:t>
            </a:r>
          </a:p>
        </p:txBody>
      </p:sp>
      <p:sp>
        <p:nvSpPr>
          <p:cNvPr id="62" name="文字方塊 1"/>
          <p:cNvSpPr txBox="1"/>
          <p:nvPr/>
        </p:nvSpPr>
        <p:spPr>
          <a:xfrm>
            <a:off x="9048240" y="476640"/>
            <a:ext cx="2534040" cy="701640"/>
          </a:xfrm>
          <a:prstGeom prst="rect">
            <a:avLst/>
          </a:prstGeom>
          <a:noFill/>
          <a:ln w="0">
            <a:noFill/>
          </a:ln>
        </p:spPr>
        <p:txBody>
          <a:bodyPr anchor="t" anchorCtr="1" wrap="square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微軟正黑體"/>
              </a:rPr>
              <a:t/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" name="直線接點 6"/>
          <p:cNvCxnSpPr/>
          <p:nvPr/>
        </p:nvCxnSpPr>
        <p:spPr>
          <a:xfrm>
            <a:off x="4510800" y="821160"/>
            <a:ext cx="3154320" cy="360"/>
          </a:xfrm>
          <a:prstGeom prst="straightConnector1">
            <a:avLst/>
          </a:prstGeom>
          <a:ln w="38160">
            <a:solidFill>
              <a:srgbClr val="2A5167"/>
            </a:solidFill>
            <a:miter/>
          </a:ln>
        </p:spPr>
      </p:cxnSp>
      <p:sp>
        <p:nvSpPr>
          <p:cNvPr id="64" name="Rectangle 8"/>
          <p:cNvSpPr/>
          <p:nvPr/>
        </p:nvSpPr>
        <p:spPr>
          <a:xfrm>
            <a:off x="1577160" y="3214440"/>
            <a:ext cx="9001080" cy="1525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 wrap="square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500">
                <a:solidFill>
                  <a:srgbClr val="212121"/>
                </a:solidFill>
                <a:latin typeface="微軟正黑體"/>
              </a:rPr>
              <a:t>計畫名稱：Munea 沐寧：AI 健康陪伴照護 App 開發與家庭與企業ESG場域應用服務計畫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12121"/>
                </a:solidFill>
                <a:latin typeface="微軟正黑體"/>
              </a:rPr>
              <a:t>計畫期間：自115年06月25日至115年11月16日</a:t>
            </a:r>
          </a:p>
        </p:txBody>
      </p:sp>
      <p:cxnSp>
        <p:nvCxnSpPr>
          <p:cNvPr id="65" name="直線接點 8"/>
          <p:cNvCxnSpPr/>
          <p:nvPr/>
        </p:nvCxnSpPr>
        <p:spPr>
          <a:xfrm>
            <a:off x="4944240" y="2184480"/>
            <a:ext cx="2463840" cy="360"/>
          </a:xfrm>
          <a:prstGeom prst="straightConnector1">
            <a:avLst/>
          </a:prstGeom>
          <a:ln w="380880">
            <a:solidFill>
              <a:srgbClr val="C9DEE9"/>
            </a:solidFill>
            <a:miter/>
          </a:ln>
        </p:spPr>
      </p:cxnSp>
      <p:sp>
        <p:nvSpPr>
          <p:cNvPr id="66" name="Rectangle 2"/>
          <p:cNvSpPr txBox="1"/>
          <p:nvPr/>
        </p:nvSpPr>
        <p:spPr>
          <a:xfrm>
            <a:off x="4673880" y="1196640"/>
            <a:ext cx="3007440" cy="132408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200000"/>
              </a:lnSpc>
            </a:pPr>
            <a:r>
              <a:rPr lang="zh-TW" sz="40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審查簡報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文字方塊 12"/>
          <p:cNvSpPr txBox="1"/>
          <p:nvPr/>
        </p:nvSpPr>
        <p:spPr>
          <a:xfrm>
            <a:off x="3180960" y="2505240"/>
            <a:ext cx="6095880" cy="1006200"/>
          </a:xfrm>
          <a:prstGeom prst="rect">
            <a:avLst/>
          </a:prstGeom>
          <a:noFill/>
          <a:ln w="0">
            <a:noFill/>
          </a:ln>
        </p:spPr>
        <p:txBody>
          <a:bodyPr anchor="t" wrap="square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(■AI創新應用服務   □AI Agent整合服務)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直線接點 11"/>
          <p:cNvCxnSpPr/>
          <p:nvPr/>
        </p:nvCxnSpPr>
        <p:spPr>
          <a:xfrm>
            <a:off x="4605840" y="874440"/>
            <a:ext cx="2607120" cy="360"/>
          </a:xfrm>
          <a:prstGeom prst="straightConnector1">
            <a:avLst/>
          </a:prstGeom>
          <a:ln w="380880">
            <a:solidFill>
              <a:srgbClr val="8CB8D0"/>
            </a:solidFill>
            <a:miter/>
          </a:ln>
        </p:spPr>
      </p:cxn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131000" y="226080"/>
            <a:ext cx="3556440" cy="73764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 anchorCtr="1">
            <a:normAutofit/>
          </a:bodyPr>
          <a:p>
            <a:pPr indent="0" algn="ctr">
              <a:lnSpc>
                <a:spcPct val="90000"/>
              </a:lnSpc>
              <a:buNone/>
            </a:pPr>
            <a:r>
              <a:rPr lang="zh-TW" sz="4000" b="1" u="none" strike="noStrike">
                <a:solidFill>
                  <a:srgbClr val="C00000"/>
                </a:solidFill>
                <a:effectLst/>
                <a:uFillTx/>
                <a:latin typeface="Times New Roman"/>
                <a:ea typeface="微軟正黑體"/>
              </a:rPr>
              <a:t>簡報大綱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投影片編號版面配置區 3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041544AC-2B78-4FB3-A123-3EF91EF9678A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3307320" y="1228320"/>
            <a:ext cx="8229600" cy="453636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228600" indent="-228600" algn="l">
              <a:lnSpc>
                <a:spcPct val="90000"/>
              </a:lnSpc>
              <a:spcBef>
                <a:spcPts val="1001"/>
              </a:spcBef>
            </a:pPr>
            <a:r>
              <a:rPr lang="zh-TW" sz="2400" b="1" u="none" strike="noStrike">
                <a:solidFill>
                  <a:srgbClr val="01416D"/>
                </a:solidFill>
                <a:effectLst/>
                <a:uFillTx/>
                <a:latin typeface="Times New Roman"/>
                <a:ea typeface="微軟正黑體"/>
              </a:rPr>
              <a:t>一、委員書面意見回復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90000"/>
              </a:lnSpc>
              <a:spcBef>
                <a:spcPts val="1001"/>
              </a:spcBef>
            </a:pPr>
            <a:r>
              <a:rPr lang="zh-TW" sz="2400" b="1" u="none" strike="noStrike">
                <a:solidFill>
                  <a:srgbClr val="01416D"/>
                </a:solidFill>
                <a:effectLst/>
                <a:uFillTx/>
                <a:latin typeface="Times New Roman"/>
                <a:ea typeface="微軟正黑體"/>
              </a:rPr>
              <a:t>二、公司簡介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90000"/>
              </a:lnSpc>
              <a:spcBef>
                <a:spcPts val="1001"/>
              </a:spcBef>
            </a:pPr>
            <a:r>
              <a:rPr lang="zh-TW" sz="2400" b="1" u="none" strike="noStrike">
                <a:solidFill>
                  <a:srgbClr val="01416D"/>
                </a:solidFill>
                <a:effectLst/>
                <a:uFillTx/>
                <a:latin typeface="Times New Roman"/>
                <a:ea typeface="微軟正黑體"/>
              </a:rPr>
              <a:t>三、目標市場需求評估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90000"/>
              </a:lnSpc>
              <a:spcBef>
                <a:spcPts val="1001"/>
              </a:spcBef>
            </a:pPr>
            <a:r>
              <a:rPr lang="zh-TW" sz="2400" b="1" u="none" strike="noStrike">
                <a:solidFill>
                  <a:srgbClr val="01416D"/>
                </a:solidFill>
                <a:effectLst/>
                <a:uFillTx/>
                <a:latin typeface="Times New Roman"/>
                <a:ea typeface="微軟正黑體"/>
              </a:rPr>
              <a:t>四、計畫創新性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90000"/>
              </a:lnSpc>
              <a:spcBef>
                <a:spcPts val="1001"/>
              </a:spcBef>
            </a:pPr>
            <a:r>
              <a:rPr lang="zh-TW" sz="2400" b="1" u="none" strike="noStrike">
                <a:solidFill>
                  <a:srgbClr val="01416D"/>
                </a:solidFill>
                <a:effectLst/>
                <a:uFillTx/>
                <a:latin typeface="Times New Roman"/>
                <a:ea typeface="微軟正黑體"/>
              </a:rPr>
              <a:t>五、實施方法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90000"/>
              </a:lnSpc>
              <a:spcBef>
                <a:spcPts val="1001"/>
              </a:spcBef>
            </a:pPr>
            <a:r>
              <a:rPr lang="zh-TW" sz="2400" b="1" u="none" strike="noStrike">
                <a:solidFill>
                  <a:srgbClr val="01416D"/>
                </a:solidFill>
                <a:effectLst/>
                <a:uFillTx/>
                <a:latin typeface="Times New Roman"/>
                <a:ea typeface="微軟正黑體"/>
              </a:rPr>
              <a:t>六、無形資產引進、委託研究與驗證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90000"/>
              </a:lnSpc>
              <a:spcBef>
                <a:spcPts val="1001"/>
              </a:spcBef>
            </a:pPr>
            <a:r>
              <a:rPr lang="zh-TW" sz="2400" b="1" u="none" strike="noStrike">
                <a:solidFill>
                  <a:srgbClr val="01416D"/>
                </a:solidFill>
                <a:effectLst/>
                <a:uFillTx/>
                <a:latin typeface="Times New Roman"/>
                <a:ea typeface="微軟正黑體"/>
              </a:rPr>
              <a:t>七、競爭者分析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90000"/>
              </a:lnSpc>
              <a:spcBef>
                <a:spcPts val="1001"/>
              </a:spcBef>
            </a:pPr>
            <a:r>
              <a:rPr lang="zh-TW" sz="2400" b="1" u="none" strike="noStrike">
                <a:solidFill>
                  <a:srgbClr val="01416D"/>
                </a:solidFill>
                <a:effectLst/>
                <a:uFillTx/>
                <a:latin typeface="Times New Roman"/>
                <a:ea typeface="微軟正黑體"/>
              </a:rPr>
              <a:t>八、營運服務規劃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90000"/>
              </a:lnSpc>
              <a:spcBef>
                <a:spcPts val="1001"/>
              </a:spcBef>
            </a:pPr>
            <a:r>
              <a:rPr lang="zh-TW" sz="2400" b="1" u="none" strike="noStrike">
                <a:solidFill>
                  <a:srgbClr val="01416D"/>
                </a:solidFill>
                <a:effectLst/>
                <a:uFillTx/>
                <a:latin typeface="Times New Roman"/>
                <a:ea typeface="微軟正黑體"/>
              </a:rPr>
              <a:t>九、行銷策略規劃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90000"/>
              </a:lnSpc>
              <a:spcBef>
                <a:spcPts val="1001"/>
              </a:spcBef>
            </a:pPr>
            <a:r>
              <a:rPr lang="zh-TW" sz="2400" b="1" u="none" strike="noStrike">
                <a:solidFill>
                  <a:srgbClr val="01416D"/>
                </a:solidFill>
                <a:effectLst/>
                <a:uFillTx/>
                <a:latin typeface="Times New Roman"/>
                <a:ea typeface="微軟正黑體"/>
              </a:rPr>
              <a:t>十、獲利模式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90000"/>
              </a:lnSpc>
              <a:spcBef>
                <a:spcPts val="1001"/>
              </a:spcBef>
            </a:pPr>
            <a:r>
              <a:rPr lang="zh-TW" sz="2400" b="1" u="none" strike="noStrike">
                <a:solidFill>
                  <a:srgbClr val="01416D"/>
                </a:solidFill>
                <a:effectLst/>
                <a:uFillTx/>
                <a:latin typeface="Times New Roman"/>
                <a:ea typeface="微軟正黑體"/>
              </a:rPr>
              <a:t>十一、預期效益說明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90000"/>
              </a:lnSpc>
              <a:spcBef>
                <a:spcPts val="1001"/>
              </a:spcBef>
            </a:pPr>
            <a:r>
              <a:rPr lang="zh-TW" sz="2400" b="1" u="none" strike="noStrike">
                <a:solidFill>
                  <a:srgbClr val="01416D"/>
                </a:solidFill>
                <a:effectLst/>
                <a:uFillTx/>
                <a:latin typeface="Times New Roman"/>
                <a:ea typeface="微軟正黑體"/>
              </a:rPr>
              <a:t>十二、經費編列說明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文字方塊 2"/>
          <p:cNvSpPr txBox="1"/>
          <p:nvPr/>
        </p:nvSpPr>
        <p:spPr>
          <a:xfrm>
            <a:off x="9016920" y="1639440"/>
            <a:ext cx="3022560" cy="64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Times New Roman"/>
                <a:ea typeface="微軟正黑體"/>
              </a:rPr>
              <a:t>※</a:t>
            </a:r>
            <a:r>
              <a:rPr lang="zh-TW" sz="1800" b="1" u="none" strike="noStrike"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Times New Roman"/>
                <a:ea typeface="微軟正黑體"/>
              </a:rPr>
              <a:t>大綱請勿任意調整</a:t>
            </a:r>
            <a:r>
              <a:rPr lang="en-US" sz="1800" b="1" u="none" strike="noStrike"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Times New Roman"/>
                <a:ea typeface="微軟正黑體"/>
              </a:rPr>
              <a:t>※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Times New Roman"/>
                <a:ea typeface="微軟正黑體"/>
              </a:rPr>
              <a:t>※</a:t>
            </a:r>
            <a:r>
              <a:rPr lang="zh-TW" sz="1800" b="1" u="none" strike="noStrike"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Times New Roman"/>
                <a:ea typeface="微軟正黑體"/>
              </a:rPr>
              <a:t>背景可自行設計</a:t>
            </a:r>
            <a:r>
              <a:rPr lang="en-US" sz="1800" b="1" u="none" strike="noStrike"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Times New Roman"/>
                <a:ea typeface="微軟正黑體"/>
              </a:rPr>
              <a:t>※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688680" y="1442520"/>
            <a:ext cx="10343520" cy="396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>
              <a:lnSpc>
                <a:spcPct val="100000"/>
              </a:lnSpc>
            </a:pPr>
            <a:r>
              <a:rPr lang="zh-TW" sz="2000" b="0" u="none" strike="noStrike">
                <a:solidFill>
                  <a:srgbClr val="002060"/>
                </a:solidFill>
                <a:effectLst/>
                <a:uFillTx/>
                <a:latin typeface="Times New Roman"/>
                <a:ea typeface="微軟正黑體"/>
              </a:rPr>
              <a:t>請逐項回復委員書面意見，若有內容相近之</a:t>
            </a:r>
            <a:r>
              <a:rPr lang="zh-TW" sz="2000" b="0" u="none" strike="noStrike">
                <a:solidFill>
                  <a:srgbClr val="002060"/>
                </a:solidFill>
                <a:effectLst/>
                <a:uFillTx/>
                <a:latin typeface="Times New Roman"/>
                <a:ea typeface="微軟正黑體"/>
              </a:rPr>
              <a:t>書面意見</a:t>
            </a:r>
            <a:r>
              <a:rPr lang="zh-TW" sz="2000" b="0" u="none" strike="noStrike">
                <a:solidFill>
                  <a:srgbClr val="002060"/>
                </a:solidFill>
                <a:effectLst/>
                <a:uFillTx/>
                <a:latin typeface="Times New Roman"/>
                <a:ea typeface="微軟正黑體"/>
              </a:rPr>
              <a:t>可合併回覆說明。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投影片編號版面配置區 39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B5EBAD36-657F-4A07-A58D-C174BD2DD6A1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&lt;編號&gt;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標題 1"/>
          <p:cNvSpPr txBox="1"/>
          <p:nvPr/>
        </p:nvSpPr>
        <p:spPr>
          <a:xfrm>
            <a:off x="1981080" y="29376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Times New Roman"/>
                <a:ea typeface="微軟正黑體"/>
              </a:rPr>
              <a:t>一、委員書面意見回復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" name="表格 2"/>
          <p:cNvGraphicFramePr/>
          <p:nvPr/>
        </p:nvGraphicFramePr>
        <p:xfrm>
          <a:off x="688680" y="2066040"/>
          <a:ext cx="10540080" cy="1112400"/>
        </p:xfrm>
        <a:graphic>
          <a:graphicData uri="http://schemas.openxmlformats.org/drawingml/2006/table">
            <a:tbl>
              <a:tblPr/>
              <a:tblGrid>
                <a:gridCol w="733320"/>
                <a:gridCol w="3776040"/>
                <a:gridCol w="4359240"/>
                <a:gridCol w="1671480"/>
              </a:tblGrid>
              <a:tr h="902520">
                <a:tc>
                  <a:txBody>
                    <a:bodyPr anchor="t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2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微軟正黑體"/>
                        </a:rPr>
                        <a:t>序號</a:t>
                      </a:r>
                      <a:endParaRPr lang="en-US" sz="24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32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2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微軟正黑體"/>
                        </a:rPr>
                        <a:t>委員書面意見</a:t>
                      </a:r>
                      <a:endParaRPr lang="en-US" sz="24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32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2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微軟正黑體"/>
                        </a:rPr>
                        <a:t>委員書面意見回覆說明</a:t>
                      </a:r>
                      <a:endParaRPr lang="en-US" sz="24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32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2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微軟正黑體"/>
                        </a:rPr>
                        <a:t>頁碼</a:t>
                      </a:r>
                      <a:endParaRPr lang="en-US" sz="24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32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396720">
                <a:tc>
                  <a:txBody>
                    <a:bodyPr anchor="t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1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9000" marB="9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（委員書面意見預計於會議前提供，收到後於本頁逐項填復）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9000" marB="9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（逐項回覆說明；內容相近之意見合併回覆）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9000" marB="9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—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9000" marB="9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/>
                    </a:solidFill>
                  </a:tcPr>
                </a:tc>
              </a:tr>
              <a:tr h="396720">
                <a:tc>
                  <a:txBody>
                    <a:bodyPr anchor="t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80400" y="907920"/>
            <a:ext cx="7797600" cy="79200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150000"/>
              </a:lnSpc>
              <a:buNone/>
            </a:pPr>
            <a:r>
              <a:rPr lang="en-US" sz="3200" b="1" u="none" strike="noStrike">
                <a:solidFill>
                  <a:srgbClr val="004D8B"/>
                </a:solidFill>
                <a:effectLst/>
                <a:uFillTx/>
                <a:latin typeface="微軟正黑體"/>
                <a:ea typeface="微軟正黑體"/>
              </a:rPr>
              <a:t>(</a:t>
            </a:r>
            <a:r>
              <a:rPr lang="zh-TW" sz="3200" b="1" u="none" strike="noStrike">
                <a:solidFill>
                  <a:srgbClr val="004D8B"/>
                </a:solidFill>
                <a:effectLst/>
                <a:uFillTx/>
                <a:latin typeface="微軟正黑體"/>
                <a:ea typeface="微軟正黑體"/>
              </a:rPr>
              <a:t>一</a:t>
            </a:r>
            <a:r>
              <a:rPr lang="en-US" sz="3200" b="1" u="none" strike="noStrike">
                <a:solidFill>
                  <a:srgbClr val="004D8B"/>
                </a:solidFill>
                <a:effectLst/>
                <a:uFillTx/>
                <a:latin typeface="微軟正黑體"/>
                <a:ea typeface="微軟正黑體"/>
              </a:rPr>
              <a:t>)</a:t>
            </a:r>
            <a:r>
              <a:rPr lang="zh-TW" sz="3200" b="1" u="none" strike="noStrike">
                <a:solidFill>
                  <a:srgbClr val="004D8B"/>
                </a:solidFill>
                <a:effectLst/>
                <a:uFillTx/>
                <a:latin typeface="微軟正黑體"/>
                <a:ea typeface="微軟正黑體"/>
              </a:rPr>
              <a:t>基本資料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3"/>
          <p:cNvSpPr txBox="1"/>
          <p:nvPr/>
        </p:nvSpPr>
        <p:spPr>
          <a:xfrm>
            <a:off x="1248840" y="1699920"/>
            <a:ext cx="7632720" cy="2132280"/>
          </a:xfrm>
          <a:prstGeom prst="rect">
            <a:avLst/>
          </a:prstGeom>
          <a:noFill/>
          <a:ln w="0">
            <a:noFill/>
          </a:ln>
        </p:spPr>
        <p:txBody>
          <a:bodyPr lIns="36000" rIns="36000" anchor="t" wrap="square">
            <a:noAutofit/>
          </a:bodyPr>
          <a:p>
            <a:pPr marL="457200" indent="-4572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Font typeface="OpenSymbol"/>
              <a:buAutoNum type="arabicPeriod"/>
            </a:pPr>
            <a:r>
              <a:rPr sz="1600">
                <a:solidFill>
                  <a:srgbClr val="212121"/>
                </a:solidFill>
                <a:latin typeface="微軟正黑體"/>
              </a:rPr>
              <a:t>創立日期：民國 98 年 9 月 3 日（統一編號 24461087）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12121"/>
                </a:solidFill>
                <a:latin typeface="微軟正黑體"/>
              </a:rPr>
              <a:t>實收資本額：新臺幣 15,000 仟元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12121"/>
                </a:solidFill>
                <a:latin typeface="微軟正黑體"/>
              </a:rPr>
              <a:t>負責人：蔡盛全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12121"/>
                </a:solidFill>
                <a:latin typeface="微軟正黑體"/>
              </a:rPr>
              <a:t>員工人數：12 人（執行計畫人力 12 人）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12121"/>
                </a:solidFill>
                <a:latin typeface="微軟正黑體"/>
              </a:rPr>
              <a:t>公司實績（曾獲殊榮或認證）：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12121"/>
                </a:solidFill>
                <a:latin typeface="微軟正黑體"/>
              </a:rPr>
              <a:t>・ISO 27001 資訊安全管理系統認證（2022）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12121"/>
                </a:solidFill>
                <a:latin typeface="微軟正黑體"/>
              </a:rPr>
              <a:t>・AIoT 雲平台與智慧生態解決方案（EMS 能源管理、ESG 碳盤查、智慧樓宇／工廠／醫療）跨產業系統整合實績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12121"/>
                </a:solidFill>
                <a:latin typeface="微軟正黑體"/>
              </a:rPr>
              <a:t>・計畫主持人曾宇晞主導 HealthBuy App 從 0 到 1，獲 2020 Google Play 年度最佳應用程式</a:t>
            </a:r>
          </a:p>
        </p:txBody>
      </p:sp>
      <p:sp>
        <p:nvSpPr>
          <p:cNvPr id="79" name="投影片編號版面配置區 4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A8B49D1D-474A-4782-9413-1D28F88DE9FA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3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標題 1"/>
          <p:cNvSpPr txBox="1"/>
          <p:nvPr/>
        </p:nvSpPr>
        <p:spPr>
          <a:xfrm>
            <a:off x="1981080" y="15588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二</a:t>
            </a: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、 公司簡介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標題 1"/>
          <p:cNvSpPr txBox="1"/>
          <p:nvPr/>
        </p:nvSpPr>
        <p:spPr>
          <a:xfrm>
            <a:off x="978480" y="332640"/>
            <a:ext cx="8229600" cy="639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</a:pPr>
            <a:r>
              <a:rPr lang="en-US" sz="3200" b="1" u="none" strike="noStrike">
                <a:solidFill>
                  <a:srgbClr val="004D8B"/>
                </a:solidFill>
                <a:effectLst/>
                <a:uFillTx/>
                <a:latin typeface="微軟正黑體"/>
                <a:ea typeface="微軟正黑體"/>
              </a:rPr>
              <a:t>(</a:t>
            </a:r>
            <a:r>
              <a:rPr lang="zh-TW" sz="3200" b="1" u="none" strike="noStrike">
                <a:solidFill>
                  <a:srgbClr val="004D8B"/>
                </a:solidFill>
                <a:effectLst/>
                <a:uFillTx/>
                <a:latin typeface="微軟正黑體"/>
                <a:ea typeface="微軟正黑體"/>
              </a:rPr>
              <a:t>二</a:t>
            </a:r>
            <a:r>
              <a:rPr lang="en-US" sz="3200" b="1" u="none" strike="noStrike">
                <a:solidFill>
                  <a:srgbClr val="004D8B"/>
                </a:solidFill>
                <a:effectLst/>
                <a:uFillTx/>
                <a:latin typeface="微軟正黑體"/>
                <a:ea typeface="微軟正黑體"/>
              </a:rPr>
              <a:t>)</a:t>
            </a:r>
            <a:r>
              <a:rPr lang="zh-TW" sz="3200" b="1" u="none" strike="noStrike">
                <a:solidFill>
                  <a:srgbClr val="004D8B"/>
                </a:solidFill>
                <a:effectLst/>
                <a:uFillTx/>
                <a:latin typeface="微軟正黑體"/>
                <a:ea typeface="微軟正黑體"/>
              </a:rPr>
              <a:t>主要營業項目及歷年營運狀況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3"/>
          <p:cNvSpPr txBox="1"/>
          <p:nvPr/>
        </p:nvSpPr>
        <p:spPr>
          <a:xfrm>
            <a:off x="844920" y="971640"/>
            <a:ext cx="8496720" cy="1801080"/>
          </a:xfrm>
          <a:prstGeom prst="rect">
            <a:avLst/>
          </a:prstGeom>
          <a:noFill/>
          <a:ln w="0">
            <a:noFill/>
          </a:ln>
        </p:spPr>
        <p:txBody>
          <a:bodyPr lIns="36000" rIns="36000" anchor="t" wrap="square">
            <a:noAutofit/>
          </a:bodyPr>
          <a:p>
            <a:pPr marL="1279440" indent="-4572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Font typeface="OpenSymbol"/>
              <a:buAutoNum type="arabicPeriod"/>
            </a:pPr>
            <a:r>
              <a:rPr sz="1500">
                <a:solidFill>
                  <a:srgbClr val="212121"/>
                </a:solidFill>
                <a:latin typeface="微軟正黑體"/>
              </a:rPr>
              <a:t>營業項目：AIoT 雲平台與智慧生態解決方案（系統整合／軟體服務）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12121"/>
                </a:solidFill>
                <a:latin typeface="微軟正黑體"/>
              </a:rPr>
              <a:t>主要客戶：智慧樓宇、智慧工廠、智慧醫療與園區之業主及系統建置需求方（專案型銷售）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12121"/>
                </a:solidFill>
                <a:latin typeface="微軟正黑體"/>
              </a:rPr>
              <a:t>營業額：近三年穩定成長、年複合成長率約 30%；自籌款 2,226 仟元約占年營收 8.3%、以營運現金流支應</a:t>
            </a:r>
          </a:p>
        </p:txBody>
      </p:sp>
      <p:graphicFrame>
        <p:nvGraphicFramePr>
          <p:cNvPr id="83" name="Group 25"/>
          <p:cNvGraphicFramePr/>
          <p:nvPr/>
        </p:nvGraphicFramePr>
        <p:xfrm>
          <a:off x="1574640" y="2498400"/>
          <a:ext cx="9037800" cy="2997720"/>
        </p:xfrm>
        <a:graphic>
          <a:graphicData uri="http://schemas.openxmlformats.org/drawingml/2006/table">
            <a:tbl>
              <a:tblPr/>
              <a:tblGrid>
                <a:gridCol w="1824480"/>
                <a:gridCol w="2434320"/>
                <a:gridCol w="2432880"/>
                <a:gridCol w="2346120"/>
              </a:tblGrid>
              <a:tr h="430200">
                <a:tc rowSpan="2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50000"/>
                        </a:lnSpc>
                        <a:spcBef>
                          <a:spcPts val="499"/>
                        </a:spcBef>
                      </a:pPr>
                      <a:r>
                        <a:rPr lang="zh-TW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產品項目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5688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6600"/>
                    </a:solidFill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</a:pPr>
                      <a:r>
                        <a:rPr lang="zh-TW" sz="2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近三年營業額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5688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6600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9940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buNone/>
                      </a:pPr>
                      <a:r>
                        <a:rPr sz="1100" b="1">
                          <a:solidFill>
                            <a:srgbClr val="212121"/>
                          </a:solidFill>
                          <a:latin typeface="微軟正黑體"/>
                        </a:rPr>
                        <a:t>114年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buNone/>
                      </a:pPr>
                      <a:r>
                        <a:rPr sz="1100" b="1">
                          <a:solidFill>
                            <a:srgbClr val="212121"/>
                          </a:solidFill>
                          <a:latin typeface="微軟正黑體"/>
                        </a:rPr>
                        <a:t>113年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buNone/>
                      </a:pPr>
                      <a:r>
                        <a:rPr sz="1100" b="1">
                          <a:solidFill>
                            <a:srgbClr val="212121"/>
                          </a:solidFill>
                          <a:latin typeface="微軟正黑體"/>
                        </a:rPr>
                        <a:t>112年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6600"/>
                    </a:solidFill>
                  </a:tcPr>
                </a:tc>
              </a:tr>
              <a:tr h="492120">
                <a:tc>
                  <a:txBody>
                    <a:bodyPr anchor="ctr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智慧生態解決方案（系統整合／AIoT 平台／軟體服務）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9000" marB="9000">
                    <a:lnL w="5688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26,822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21,141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15,967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492120">
                <a:tc>
                  <a:txBody>
                    <a:bodyPr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5688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492120">
                <a:tc>
                  <a:txBody>
                    <a:bodyPr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5688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491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</a:pPr>
                      <a:r>
                        <a:rPr lang="zh-TW" sz="2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合計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5688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buNone/>
                      </a:pPr>
                      <a:r>
                        <a:rPr sz="1100" b="1">
                          <a:solidFill>
                            <a:srgbClr val="212121"/>
                          </a:solidFill>
                          <a:latin typeface="微軟正黑體"/>
                        </a:rPr>
                        <a:t>26,822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499"/>
                        </a:spcBef>
                        <a:buNone/>
                      </a:pPr>
                      <a:r>
                        <a:rPr sz="1100" b="1">
                          <a:solidFill>
                            <a:srgbClr val="212121"/>
                          </a:solidFill>
                          <a:latin typeface="微軟正黑體"/>
                        </a:rPr>
                        <a:t>21,141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buNone/>
                      </a:pPr>
                      <a:r>
                        <a:rPr sz="1100" b="1">
                          <a:solidFill>
                            <a:srgbClr val="212121"/>
                          </a:solidFill>
                          <a:latin typeface="微軟正黑體"/>
                        </a:rPr>
                        <a:t>15,967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5688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5688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84" name="投影片編號版面配置區 5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E2D1F351-60F3-4845-8544-F8197680CA01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5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文字方塊 4"/>
          <p:cNvSpPr txBox="1"/>
          <p:nvPr/>
        </p:nvSpPr>
        <p:spPr>
          <a:xfrm>
            <a:off x="8912880" y="2086560"/>
            <a:ext cx="1800360" cy="3693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spAutoFit/>
          </a:bodyPr>
          <a:p>
            <a:pPr>
              <a:lnSpc>
                <a:spcPct val="100000"/>
              </a:lnSpc>
            </a:pPr>
            <a:r>
              <a:rPr lang="zh-TW" sz="18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金額單位：仟元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3"/>
          <p:cNvSpPr txBox="1"/>
          <p:nvPr/>
        </p:nvSpPr>
        <p:spPr>
          <a:xfrm>
            <a:off x="659160" y="5599800"/>
            <a:ext cx="6175440" cy="572400"/>
          </a:xfrm>
          <a:prstGeom prst="rect">
            <a:avLst/>
          </a:prstGeom>
          <a:noFill/>
          <a:ln w="0">
            <a:noFill/>
          </a:ln>
        </p:spPr>
        <p:txBody>
          <a:bodyPr lIns="36000" rIns="36000" anchor="t">
            <a:noAutofit/>
          </a:bodyPr>
          <a:p>
            <a:pPr marL="822240">
              <a:lnSpc>
                <a:spcPct val="110000"/>
              </a:lnSpc>
              <a:spcBef>
                <a:spcPts val="400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*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X</a:t>
            </a:r>
            <a:r>
              <a:rPr lang="zh-TW" sz="18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為申請當年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標題 1"/>
          <p:cNvSpPr txBox="1"/>
          <p:nvPr/>
        </p:nvSpPr>
        <p:spPr>
          <a:xfrm>
            <a:off x="921240" y="332640"/>
            <a:ext cx="8229600" cy="639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</a:pPr>
            <a:r>
              <a:rPr lang="en-US" sz="3200" b="1" u="none" strike="noStrike">
                <a:solidFill>
                  <a:srgbClr val="004D8B"/>
                </a:solidFill>
                <a:effectLst/>
                <a:uFillTx/>
                <a:latin typeface="微軟正黑體"/>
                <a:ea typeface="微軟正黑體"/>
              </a:rPr>
              <a:t>(</a:t>
            </a:r>
            <a:r>
              <a:rPr lang="zh-TW" sz="3200" b="1" u="none" strike="noStrike">
                <a:solidFill>
                  <a:srgbClr val="004D8B"/>
                </a:solidFill>
                <a:effectLst/>
                <a:uFillTx/>
                <a:latin typeface="微軟正黑體"/>
                <a:ea typeface="微軟正黑體"/>
              </a:rPr>
              <a:t>三</a:t>
            </a:r>
            <a:r>
              <a:rPr lang="en-US" sz="3200" b="1" u="none" strike="noStrike">
                <a:solidFill>
                  <a:srgbClr val="004D8B"/>
                </a:solidFill>
                <a:effectLst/>
                <a:uFillTx/>
                <a:latin typeface="微軟正黑體"/>
                <a:ea typeface="微軟正黑體"/>
              </a:rPr>
              <a:t>)</a:t>
            </a:r>
            <a:r>
              <a:rPr lang="zh-TW" sz="3200" b="1" u="none" strike="noStrike">
                <a:solidFill>
                  <a:srgbClr val="004D8B"/>
                </a:solidFill>
                <a:effectLst/>
                <a:uFillTx/>
                <a:latin typeface="微軟正黑體"/>
                <a:ea typeface="微軟正黑體"/>
              </a:rPr>
              <a:t>個人資料安全維護計畫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文字方塊 2"/>
          <p:cNvSpPr txBox="1"/>
          <p:nvPr/>
        </p:nvSpPr>
        <p:spPr>
          <a:xfrm>
            <a:off x="1645200" y="971640"/>
            <a:ext cx="9784800" cy="2052000"/>
          </a:xfrm>
          <a:prstGeom prst="rect">
            <a:avLst/>
          </a:prstGeom>
          <a:noFill/>
          <a:ln w="0">
            <a:noFill/>
          </a:ln>
        </p:spPr>
        <p:txBody>
          <a:bodyPr anchor="t" wrap="square">
            <a:spAutoFit/>
          </a:bodyPr>
          <a:p>
            <a:pPr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依《個人資料保護法》第 27 條及《數位經濟相關產業個人資料檔案安全維護管理辦法》訂定（完整計畫詳計畫書附件三），要點如下：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・管理人員與資源：指派黃聖育為個資保護管理人員；編列資安檢測經費與雲端安全服務（金鑰管理、加密、稽核日誌）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・清查盤點與界定：帳號身分／家庭照護圈／健康與生活狀態／互動內容四類資料分級；健康資料比照特種個資高標保護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・風險評估與控制：多租戶隔離、家庭權限四層可見度、原始對話限期自動刪除（TTL）、AI 服務層 zero-retention 合約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・事故預防通報應變：異常存取告警與越權紀錄；依個資法第 12 條通知當事人並向主管機關通報、留存紀錄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・內部管理程序：電子同意留存、目的拘束（不販售、不跨站廣告追蹤）；帳號刪除為真刪（含登入身分永久刪除、已通過驗證）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・B2B2C 企業席次資料三原則：企業僅取匿名彙總、長輩健康內容只給家屬、席次綁定僅作計費</a:t>
            </a:r>
          </a:p>
        </p:txBody>
      </p:sp>
      <p:sp>
        <p:nvSpPr>
          <p:cNvPr id="89" name="投影片編號版面配置區 3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2E8CC325-60A4-4AA9-9064-E7EB1B5F9BD5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6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標題 1"/>
          <p:cNvSpPr txBox="1"/>
          <p:nvPr/>
        </p:nvSpPr>
        <p:spPr>
          <a:xfrm>
            <a:off x="653760" y="337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lang="en-US" sz="3200" b="1" u="none" strike="noStrike">
                <a:solidFill>
                  <a:srgbClr val="004D8B"/>
                </a:solidFill>
                <a:effectLst/>
                <a:uFillTx/>
                <a:latin typeface="微軟正黑體"/>
                <a:ea typeface="微軟正黑體"/>
              </a:rPr>
              <a:t>(</a:t>
            </a:r>
            <a:r>
              <a:rPr lang="zh-TW" sz="3200" b="1" u="none" strike="noStrike">
                <a:solidFill>
                  <a:srgbClr val="004D8B"/>
                </a:solidFill>
                <a:effectLst/>
                <a:uFillTx/>
                <a:latin typeface="微軟正黑體"/>
                <a:ea typeface="微軟正黑體"/>
              </a:rPr>
              <a:t>四</a:t>
            </a:r>
            <a:r>
              <a:rPr lang="en-US" sz="3200" b="1" u="none" strike="noStrike">
                <a:solidFill>
                  <a:srgbClr val="004D8B"/>
                </a:solidFill>
                <a:effectLst/>
                <a:uFillTx/>
                <a:latin typeface="微軟正黑體"/>
                <a:ea typeface="微軟正黑體"/>
              </a:rPr>
              <a:t>)</a:t>
            </a:r>
            <a:r>
              <a:rPr lang="zh-TW" sz="3200" b="1" u="none" strike="noStrike">
                <a:solidFill>
                  <a:srgbClr val="004D8B"/>
                </a:solidFill>
                <a:effectLst/>
                <a:uFillTx/>
                <a:latin typeface="微軟正黑體"/>
                <a:ea typeface="微軟正黑體"/>
              </a:rPr>
              <a:t>營造友善職場環境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投影片編號版面配置區 3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C88B5DAA-FC60-4E6A-9023-A4D9B33CC4A0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6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3"/>
          <p:cNvSpPr txBox="1"/>
          <p:nvPr/>
        </p:nvSpPr>
        <p:spPr>
          <a:xfrm>
            <a:off x="386640" y="1022040"/>
            <a:ext cx="8496720" cy="1801080"/>
          </a:xfrm>
          <a:prstGeom prst="rect">
            <a:avLst/>
          </a:prstGeom>
          <a:noFill/>
          <a:ln w="0">
            <a:noFill/>
          </a:ln>
        </p:spPr>
        <p:txBody>
          <a:bodyPr lIns="36000" rIns="36000" anchor="t" wrap="square">
            <a:noAutofit/>
          </a:bodyPr>
          <a:p>
            <a:pPr marL="82224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1500">
                <a:solidFill>
                  <a:srgbClr val="212121"/>
                </a:solidFill>
                <a:latin typeface="微軟正黑體"/>
              </a:rPr>
              <a:t>1. 性別平權政策及友善家庭之職場環境措施：設置性別友善廁所、推動性別平權晉用；彈性工時制度、企業托兒相關支持；本計畫團隊男 7 人、女 5 人（約 58%：42%）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12121"/>
                </a:solidFill>
                <a:latin typeface="微軟正黑體"/>
              </a:rPr>
              <a:t>2. 延攬國外數位人才規劃或具體作法：本階段以在地研發人才培育為主——配合本計畫實施 AI 工具與方法訓練、培育 12 人；國外數位人才依業務擴展另行規劃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12121"/>
                </a:solidFill>
                <a:latin typeface="微軟正黑體"/>
              </a:rPr>
              <a:t>3. 企業加薪／留才或建立專業認同獎勵具體作法：員工健檢津貼、進修補助；友善中高齡與身心障礙者就業；結案後隨營運成長逐年擴編（N+1 起新增就業 2／3／4 人）</a:t>
            </a: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投影片編號版面配置區 3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AEC77CC2-2F44-4D48-BD55-559535B319E3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6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表格 8"/>
          <p:cNvGraphicFramePr/>
          <p:nvPr/>
        </p:nvGraphicFramePr>
        <p:xfrm>
          <a:off x="531000" y="858960"/>
          <a:ext cx="11249640" cy="3520080"/>
        </p:xfrm>
        <a:graphic>
          <a:graphicData uri="http://schemas.openxmlformats.org/drawingml/2006/table">
            <a:tbl>
              <a:tblPr/>
              <a:tblGrid>
                <a:gridCol w="928800"/>
                <a:gridCol w="2478240"/>
                <a:gridCol w="1091520"/>
                <a:gridCol w="1464840"/>
                <a:gridCol w="1533960"/>
                <a:gridCol w="3752280"/>
              </a:tblGrid>
              <a:tr h="361440">
                <a:tc rowSpan="2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計畫</a:t>
                      </a:r>
                      <a:endParaRPr lang="en-US" sz="16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類別</a:t>
                      </a:r>
                      <a:endParaRPr lang="en-US" sz="16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(A.B.C)</a:t>
                      </a:r>
                      <a:endParaRPr lang="en-US" sz="16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DB9E44"/>
                    </a:solidFill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計畫名稱</a:t>
                      </a:r>
                      <a:endParaRPr lang="en-US" sz="16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 </a:t>
                      </a:r>
                      <a:endParaRPr lang="en-US" sz="16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DB9E44"/>
                    </a:solidFill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核定日期</a:t>
                      </a:r>
                      <a:endParaRPr lang="en-US" sz="16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DB9E44"/>
                    </a:solidFill>
                  </a:tcPr>
                </a:tc>
                <a:tc gridSpan="2">
                  <a:txBody>
                    <a:bodyPr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核定計畫經費</a:t>
                      </a: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(</a:t>
                      </a:r>
                      <a:r>
                        <a:rPr lang="zh-TW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千元</a:t>
                      </a: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)</a:t>
                      </a:r>
                      <a:endParaRPr lang="en-US" sz="16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DB9E44"/>
                    </a:solidFill>
                  </a:tcPr>
                </a:tc>
                <a:tc hMerge="1">
                  <a:txBody>
                    <a:bodyPr lIns="0" tIns="0" rIns="0" bIns="0" anchor="t">
                      <a:noAutofit/>
                    </a:bodyPr>
                    <a:p>
                      <a:endParaRPr lang="en-US" sz="24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320">
                      <a:solidFill>
                        <a:srgbClr val="FFFFFF"/>
                      </a:solidFill>
                      <a:prstDash val="solid"/>
                    </a:lnB>
                    <a:solidFill>
                      <a:srgbClr val="DB9E44"/>
                    </a:solidFill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執行效益</a:t>
                      </a:r>
                      <a:endParaRPr lang="en-US" sz="16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DB9E44"/>
                    </a:solidFill>
                  </a:tcPr>
                </a:tc>
              </a:tr>
              <a:tr h="1170360">
                <a:tc vMerge="1">
                  <a:txBody>
                    <a:bodyPr lIns="0" tIns="0" rIns="0" bIns="0" anchor="t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DFCF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DFCF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D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計畫總經費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政府補助款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DFCF"/>
                    </a:solidFill>
                  </a:tcPr>
                </a:tc>
              </a:tr>
              <a:tr h="396720">
                <a:tc>
                  <a:txBody>
                    <a:bodyPr anchor="ctr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—</a:t>
                      </a:r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無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—</a:t>
                      </a:r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—</a:t>
                      </a:r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—</a:t>
                      </a:r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本計畫為公司首次申請政府研發補助；團隊成員林勇全（AI 技術／架構顧問）曾執行 DIGITAL+ 計畫、具政府計畫管理與結案經驗</a:t>
                      </a:r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396720"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</a:tr>
              <a:tr h="396720"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396720"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</a:tr>
              <a:tr h="396720"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sp>
        <p:nvSpPr>
          <p:cNvPr id="95" name="標題 1"/>
          <p:cNvSpPr txBox="1"/>
          <p:nvPr/>
        </p:nvSpPr>
        <p:spPr>
          <a:xfrm>
            <a:off x="-507960" y="241200"/>
            <a:ext cx="10605600" cy="504720"/>
          </a:xfrm>
          <a:prstGeom prst="rect">
            <a:avLst/>
          </a:prstGeom>
          <a:noFill/>
          <a:ln w="0">
            <a:noFill/>
          </a:ln>
        </p:spPr>
        <p:txBody>
          <a:bodyPr anchor="t" anchorCtr="1">
            <a:normAutofit/>
          </a:bodyPr>
          <a:p>
            <a:pPr algn="ctr">
              <a:lnSpc>
                <a:spcPct val="90000"/>
              </a:lnSpc>
            </a:pPr>
            <a:r>
              <a:rPr lang="en-US" sz="3000" b="1" u="none" strike="noStrike">
                <a:solidFill>
                  <a:srgbClr val="0067B9"/>
                </a:solidFill>
                <a:effectLst/>
                <a:uFillTx/>
                <a:latin typeface="微軟正黑體"/>
                <a:ea typeface="微軟正黑體"/>
              </a:rPr>
              <a:t>(</a:t>
            </a:r>
            <a:r>
              <a:rPr lang="zh-TW" sz="3000" b="1" u="none" strike="noStrike">
                <a:solidFill>
                  <a:srgbClr val="0067B9"/>
                </a:solidFill>
                <a:effectLst/>
                <a:uFillTx/>
                <a:latin typeface="微軟正黑體"/>
                <a:ea typeface="微軟正黑體"/>
              </a:rPr>
              <a:t>五</a:t>
            </a:r>
            <a:r>
              <a:rPr lang="en-US" sz="3000" b="1" u="none" strike="noStrike">
                <a:solidFill>
                  <a:srgbClr val="0067B9"/>
                </a:solidFill>
                <a:effectLst/>
                <a:uFillTx/>
                <a:latin typeface="微軟正黑體"/>
                <a:ea typeface="微軟正黑體"/>
              </a:rPr>
              <a:t>)</a:t>
            </a:r>
            <a:r>
              <a:rPr lang="zh-TW" sz="3000" b="1" u="none" strike="noStrike">
                <a:solidFill>
                  <a:srgbClr val="0067B9"/>
                </a:solidFill>
                <a:effectLst/>
                <a:uFillTx/>
                <a:latin typeface="Times New Roman"/>
                <a:ea typeface="微軟正黑體"/>
              </a:rPr>
              <a:t>近</a:t>
            </a:r>
            <a:r>
              <a:rPr lang="en-US" sz="3000" b="1" u="none" strike="noStrike">
                <a:solidFill>
                  <a:srgbClr val="0067B9"/>
                </a:solidFill>
                <a:effectLst/>
                <a:uFillTx/>
                <a:latin typeface="Times New Roman"/>
                <a:ea typeface="微軟正黑體"/>
              </a:rPr>
              <a:t>3</a:t>
            </a:r>
            <a:r>
              <a:rPr lang="zh-TW" sz="3000" b="1" u="none" strike="noStrike">
                <a:solidFill>
                  <a:srgbClr val="0067B9"/>
                </a:solidFill>
                <a:effectLst/>
                <a:uFillTx/>
                <a:latin typeface="Times New Roman"/>
                <a:ea typeface="微軟正黑體"/>
              </a:rPr>
              <a:t>年</a:t>
            </a:r>
            <a:r>
              <a:rPr lang="zh-TW" sz="3000" b="1" u="none" strike="noStrike">
                <a:solidFill>
                  <a:srgbClr val="0067B9"/>
                </a:solidFill>
                <a:effectLst/>
                <a:uFillTx/>
                <a:latin typeface="Times New Roman"/>
                <a:ea typeface="微軟正黑體"/>
              </a:rPr>
              <a:t>執行政府專案計畫成效</a:t>
            </a:r>
            <a:r>
              <a:rPr lang="en-US" sz="3000" b="1" u="none" strike="noStrike">
                <a:solidFill>
                  <a:srgbClr val="0067B9"/>
                </a:solidFill>
                <a:effectLst/>
                <a:uFillTx/>
                <a:latin typeface="Times New Roman"/>
                <a:ea typeface="微軟正黑體"/>
              </a:rPr>
              <a:t>(</a:t>
            </a:r>
            <a:r>
              <a:rPr lang="zh-TW" sz="3000" b="1" u="none" strike="noStrike">
                <a:solidFill>
                  <a:srgbClr val="0067B9"/>
                </a:solidFill>
                <a:effectLst/>
                <a:uFillTx/>
                <a:latin typeface="Times New Roman"/>
                <a:ea typeface="微軟正黑體"/>
              </a:rPr>
              <a:t>若無則免填</a:t>
            </a:r>
            <a:r>
              <a:rPr lang="en-US" sz="3000" b="1" u="none" strike="noStrike">
                <a:solidFill>
                  <a:srgbClr val="0067B9"/>
                </a:solidFill>
                <a:effectLst/>
                <a:uFillTx/>
                <a:latin typeface="Times New Roman"/>
                <a:ea typeface="微軟正黑體"/>
              </a:rPr>
              <a:t>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文字方塊 7"/>
          <p:cNvSpPr txBox="1"/>
          <p:nvPr/>
        </p:nvSpPr>
        <p:spPr>
          <a:xfrm>
            <a:off x="531000" y="4690080"/>
            <a:ext cx="11144160" cy="2031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近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3</a:t>
            </a: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年曾經參與之下列計畫並經核定通過（含核定計畫的無形資產引進、委託研究及技轉單位，如有現況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/</a:t>
            </a: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扣款結案、計畫終止或解除等情事須於「執行效益」備註敘明）：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DIGITAL+</a:t>
            </a: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數位創新補助平台計畫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</a:pP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產業升級創新平台輔導計畫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A+</a:t>
            </a: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企業創新研發淬煉計畫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</a:pP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其他研發計畫等（請說明計畫類型，如：</a:t>
            </a: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普及智慧城鄉生活應用計畫</a:t>
            </a: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、小型企業創新研發計畫（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SBIR</a:t>
            </a: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）、協助傳統產業技術開發計畫（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CITD</a:t>
            </a: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）、文化部、能源署、農業部或其他政府單位補助計畫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…</a:t>
            </a: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380880" y="951480"/>
            <a:ext cx="8229600" cy="64800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(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一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)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目標市場需求及痛點分析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投影片編號版面配置區 5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0D251581-A2DE-4981-A0C0-B6ABA98A8EC9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8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標題 1"/>
          <p:cNvSpPr txBox="1"/>
          <p:nvPr/>
        </p:nvSpPr>
        <p:spPr>
          <a:xfrm>
            <a:off x="1981080" y="11664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三、目標市場需求評估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文字方塊 5"/>
          <p:cNvSpPr txBox="1"/>
          <p:nvPr/>
        </p:nvSpPr>
        <p:spPr>
          <a:xfrm>
            <a:off x="1103040" y="1595520"/>
            <a:ext cx="10391760" cy="646200"/>
          </a:xfrm>
          <a:prstGeom prst="rect">
            <a:avLst/>
          </a:prstGeom>
          <a:noFill/>
          <a:ln w="0">
            <a:noFill/>
          </a:ln>
        </p:spPr>
        <p:txBody>
          <a:bodyPr anchor="t" wrap="square">
            <a:spAutoFit/>
          </a:bodyPr>
          <a:p>
            <a:pPr algn="just">
              <a:lnSpc>
                <a:spcPct val="100000"/>
              </a:lnSpc>
              <a:spcAft>
                <a:spcPts val="400"/>
              </a:spcAft>
              <a:tabLst>
                <a:tab pos="630720" algn="l"/>
              </a:tabLst>
            </a:pPr>
            <a:r>
              <a:rPr sz="1400">
                <a:solidFill>
                  <a:srgbClr val="212121"/>
                </a:solidFill>
                <a:latin typeface="微軟正黑體"/>
              </a:rPr>
              <a:t>市場規模與趨勢：台灣 114 年 12 月正式邁入超高齡社會（65 歲以上 467.3 萬人、占 20.06%；內政部）；65 歲以上獨居一人戶約 117.9 萬、列冊關懷僅約 5.5 萬人；2028 年長照人力缺口推估 6.7 萬人、87.5% 機構長期缺工（報導者／1111，2025）。全球 AI 銀髮照護市場年複合成長率約 21.3%，「社交互動與陪伴」為成長最快子類（InsightAce Analytic，2026）——需求正由「監測身體」轉向「陪伴情緒」。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三類目標客戶的痛點：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・家庭端（子女付費）：遠距擔憂父母、長者不主動使用科技；要的不只是陪伴，是「陪伴＋出事有人接住」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・長照／健康中心：離峰與夜間陪伴空白、家屬來電稀釋第一線照護人力，需要能延伸人力的關懷通報工具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・企業 ESG：員工照顧年邁父母的隱形負擔，缺「可採購、可量化、員工有感」的社會面（S）具體作為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切入時機：2026 政策窗口密集開啟（長照 3.0、智慧輔具租賃、住宿機構品質獎勵）；台灣「軟體＋AI」照護細分尚無品類定義者。</a:t>
            </a: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80880" y="951480"/>
            <a:ext cx="8229600" cy="64800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(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二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) 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預計開發之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AI/AI agent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服務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投影片編號版面配置區 5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A9B22CB6-0F1B-491D-909C-F30D605C238E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新細明體"/>
              </a:rPr>
              <a:t>9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標題 1"/>
          <p:cNvSpPr txBox="1"/>
          <p:nvPr/>
        </p:nvSpPr>
        <p:spPr>
          <a:xfrm>
            <a:off x="1981080" y="11664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三、目標市場需求評估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文字方塊 5"/>
          <p:cNvSpPr txBox="1"/>
          <p:nvPr/>
        </p:nvSpPr>
        <p:spPr>
          <a:xfrm>
            <a:off x="1153080" y="1595520"/>
            <a:ext cx="10391760" cy="646200"/>
          </a:xfrm>
          <a:prstGeom prst="rect">
            <a:avLst/>
          </a:prstGeom>
          <a:noFill/>
          <a:ln w="0">
            <a:noFill/>
          </a:ln>
        </p:spPr>
        <p:txBody>
          <a:bodyPr anchor="t" wrap="square">
            <a:spAutoFit/>
          </a:bodyPr>
          <a:p>
            <a:pPr algn="just">
              <a:lnSpc>
                <a:spcPct val="100000"/>
              </a:lnSpc>
              <a:spcAft>
                <a:spcPts val="400"/>
              </a:spcAft>
              <a:tabLst>
                <a:tab pos="630720" algn="l"/>
              </a:tabLst>
            </a:pPr>
            <a:r>
              <a:rPr sz="1400">
                <a:solidFill>
                  <a:srgbClr val="212121"/>
                </a:solidFill>
                <a:latin typeface="微軟正黑體"/>
              </a:rPr>
              <a:t>聚焦「長者健康陪伴照護」單一應用場景，以前期自籌之 iOS 產品原型（開發調整中、不列入補助標的）為基礎，四個申請標的全是未開發項：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・多平台 App 開發：iOS 完善至正式上線＋Android 版新開發，雙平台正式上線；多語系介面與語音（繁體中文、台語為先）——對應家庭端裝置覆蓋與服務完整度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・營運後台：席次管理（組織帳號／席次配發與開通／用量報表／月結）＋關懷報告與異常通知兩模組——對應企業／機構採購管理、分擔巡視回報工時、家屬安心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・AI 照護智慧深化：心理支持約束層（CBT／ACT／MI）上線、記憶情境感知強化、安全守護規則深化——對應陪伴品質與安全網、機構異常辨識準確度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・場域驗證與導入：健康中心＋ESG 企業試辦導入 2–3 家（含付費意向書）；App 通過第三方資安檢測——佐證商轉可行性</a:t>
            </a: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80880" y="951480"/>
            <a:ext cx="8229600" cy="64800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(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一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) AI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技術之服務應用情境及說明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投影片編號版面配置區 5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E0A1C1FF-1E73-436C-8D2F-5814CDBE6BE3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新細明體"/>
              </a:rPr>
              <a:t>10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標題 1"/>
          <p:cNvSpPr txBox="1"/>
          <p:nvPr/>
        </p:nvSpPr>
        <p:spPr>
          <a:xfrm>
            <a:off x="1981080" y="11664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四</a:t>
            </a: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、計畫創新性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文字方塊 5"/>
          <p:cNvSpPr txBox="1"/>
          <p:nvPr/>
        </p:nvSpPr>
        <p:spPr>
          <a:xfrm>
            <a:off x="1040400" y="1599480"/>
            <a:ext cx="10770840" cy="923400"/>
          </a:xfrm>
          <a:prstGeom prst="rect">
            <a:avLst/>
          </a:prstGeom>
          <a:noFill/>
          <a:ln w="0">
            <a:noFill/>
          </a:ln>
        </p:spPr>
        <p:txBody>
          <a:bodyPr anchor="t" wrap="square">
            <a:spAutoFit/>
          </a:bodyPr>
          <a:p>
            <a:pPr algn="just">
              <a:lnSpc>
                <a:spcPct val="100000"/>
              </a:lnSpc>
              <a:spcAft>
                <a:spcPts val="400"/>
              </a:spcAft>
              <a:tabLst>
                <a:tab pos="630720" algn="l"/>
              </a:tabLst>
            </a:pPr>
            <a:r>
              <a:rPr sz="1350">
                <a:solidFill>
                  <a:srgbClr val="212121"/>
                </a:solidFill>
                <a:latin typeface="微軟正黑體"/>
              </a:rPr>
              <a:t>三顆責任分工明確的 AI Agent 協同（多 Agent 顯式協同架構、非單一聊天機器人套殼）：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・反射腦（即時對話）：Gemini Live（Google DeepMind）——低延遲即時語音對話、可被打斷，台灣繁中原生；運作於 Google 雲端非中國節點【生成】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・管家腦（記憶感知）：Claude Sonnet（Anthropic）——背景記憶萃取、情境感知整合、每日簡報與照護摘要；運作於 Cloud Run 台灣／亞太【辨識、預測】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・守護腦（安全守門、最高否決權）：決定論規則引擎＋Claude 分類輔助——危機語言辨識、風險分級轉介（113／119／1925）、醫療邊界守門、決策留痕可稽核【辨識、自主決策】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/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公司自研核心（智財標的）：角色人格層（六款角色同一組記憶「語氣不同、事實一致」）＋指揮調度層（回應優先權仲裁：安全＞即時對話＞背景管家）。每顆腦獨立輸入輸出合約、供應商可替換。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最終回應＝角色人格＋使用者記憶＋即時感知＋當下對話＋安全規則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/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應用情境：家庭日常照護陪伴（晨間問候、用藥回診提醒、情緒陪伴）；危機安全轉介（分級觸發 113／119／1925 或家庭通知，保護事件不自動通知家庭）；企業／機構席次導入（後台開通、約 1–2 週）。</a:t>
            </a: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80880" y="951480"/>
            <a:ext cx="8229600" cy="64800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(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二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) 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服務之功能規格及技術說明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投影片編號版面配置區 5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A80E14DE-8508-43A6-BB33-8B4133C06FF5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新細明體"/>
              </a:rPr>
              <a:t>11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標題 1"/>
          <p:cNvSpPr txBox="1"/>
          <p:nvPr/>
        </p:nvSpPr>
        <p:spPr>
          <a:xfrm>
            <a:off x="1981080" y="11664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四</a:t>
            </a: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、計畫創新性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文字方塊 5"/>
          <p:cNvSpPr txBox="1"/>
          <p:nvPr/>
        </p:nvSpPr>
        <p:spPr>
          <a:xfrm>
            <a:off x="1115640" y="1595520"/>
            <a:ext cx="10391760" cy="923400"/>
          </a:xfrm>
          <a:prstGeom prst="rect">
            <a:avLst/>
          </a:prstGeom>
          <a:noFill/>
          <a:ln w="0">
            <a:noFill/>
          </a:ln>
        </p:spPr>
        <p:txBody>
          <a:bodyPr anchor="t" wrap="square">
            <a:spAutoFit/>
          </a:bodyPr>
          <a:p>
            <a:pPr algn="just">
              <a:lnSpc>
                <a:spcPct val="100000"/>
              </a:lnSpc>
              <a:spcAft>
                <a:spcPts val="400"/>
              </a:spcAft>
              <a:tabLst>
                <a:tab pos="630720" algn="l"/>
              </a:tabLst>
            </a:pPr>
            <a:r>
              <a:rPr sz="1350">
                <a:solidFill>
                  <a:srgbClr val="212121"/>
                </a:solidFill>
                <a:latin typeface="微軟正黑體"/>
              </a:rPr>
              <a:t>技術架構：容器化部署（Cloud Run）＋雲端資料庫——標準化架構、可重複部署、可規模化擴展；共 8 個服務模組（語音互動／記憶／感知／安全守護／角色人格／指揮調度／營運後台／管理監控）；AI 模型與雲端節點均為美系供應商、資料不經中國大陸地區。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/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功能規格（技術指標）——現況 vs 計畫目標：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・App 平台覆蓋：僅 iOS（原型調整中）→ iOS＋Android 雙平台正式上線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・營運後台：無（僅規劃文件）→ 席次管理＋關懷報告與異常通知正式上線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・守護腦安全：文字線紅線測試 13/13 通過 → 心理支持約束層上線、記憶感知與守護規則深化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・App 資安檢測：未執行 → 通過政府認可第三方檢測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・企業／健康中心導入：0 家 → 試辦導入 2–3 家（附付費意向書）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/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管理機制：服務可用性／錯誤率／成本分級告警；管理端操作與高風險守護腦決策寫入稽核紀錄（供結案查核）；模型版本管理、行為可回溯；多租戶資料以帳號／家庭／人物範圍隔離。</a:t>
            </a: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380880" y="951480"/>
            <a:ext cx="8229600" cy="64800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(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三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) 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計畫執行前後之差異性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投影片編號版面配置區 5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73C4F8A6-CA52-4C05-828A-5FF6D540A2B4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新細明體"/>
              </a:rPr>
              <a:t>12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標題 1"/>
          <p:cNvSpPr txBox="1"/>
          <p:nvPr/>
        </p:nvSpPr>
        <p:spPr>
          <a:xfrm>
            <a:off x="1981080" y="11664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四</a:t>
            </a: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、計畫創新性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文字方塊 5"/>
          <p:cNvSpPr txBox="1"/>
          <p:nvPr/>
        </p:nvSpPr>
        <p:spPr>
          <a:xfrm>
            <a:off x="1090440" y="1595520"/>
            <a:ext cx="10391760" cy="348840"/>
          </a:xfrm>
          <a:prstGeom prst="rect">
            <a:avLst/>
          </a:prstGeom>
          <a:noFill/>
          <a:ln w="0">
            <a:noFill/>
          </a:ln>
        </p:spPr>
        <p:txBody>
          <a:bodyPr anchor="t" wrap="square">
            <a:spAutoFit/>
          </a:bodyPr>
          <a:p>
            <a:pPr algn="just">
              <a:lnSpc>
                <a:spcPts val="2001"/>
              </a:lnSpc>
              <a:spcAft>
                <a:spcPts val="400"/>
              </a:spcAft>
              <a:tabLst>
                <a:tab pos="630720" algn="l"/>
              </a:tabLst>
            </a:pPr>
            <a:r>
              <a:rPr sz="1400">
                <a:solidFill>
                  <a:srgbClr val="212121"/>
                </a:solidFill>
                <a:latin typeface="微軟正黑體"/>
              </a:rPr>
              <a:t>AS-IS（前期自籌成果、開發調整中）→ TO-BE（本計畫申請標的、115/11 完成）：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・App 產品：iOS 產品原型調整中（六角色、訂閱點數、家庭圈）→ iOS 完善＋Android 新開發、雙平台正式上線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・照護智慧：守護腦文字線紅線 13/13 通過、記憶感知有骨架 → 心理支持約束層上線、記憶情境感知與安全守護深化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・企業／機構能力：僅規劃文件、零程式產出 → 營運後台正式上線（席次管理＋關懷報告與異常通知）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・資安與信任：條款草案完成、紅線測試通過 → App 第三方資安檢測通過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・企業／健康中心客戶：0 家 → 試辦導入 2–3 家（含付費意向書、達標轉正式付費）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導入後效益：家庭端——家屬即時掌握近況、降低獨居意外未被察覺的風險；機構端——家屬來電量下降、異常訊號提早發現、分擔第一線人力；企業端——服務涵蓋人數列入永續報告書量化指標、成為有感的員工照顧福利。</a:t>
            </a: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投影片編號版面配置區 59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7BD13AAA-D9EF-4187-9B5B-5492B54B265C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13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標題 1"/>
          <p:cNvSpPr txBox="1"/>
          <p:nvPr/>
        </p:nvSpPr>
        <p:spPr>
          <a:xfrm>
            <a:off x="497160" y="659520"/>
            <a:ext cx="3447720" cy="79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(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一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) 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計畫架構說明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9" name="群組 106"/>
          <p:cNvGrpSpPr/>
          <p:nvPr/>
        </p:nvGrpSpPr>
        <p:grpSpPr>
          <a:xfrm>
            <a:off x="1266120" y="1945080"/>
            <a:ext cx="8984880" cy="4050000"/>
            <a:chOff x="1266120" y="1945080"/>
            <a:chExt cx="8984880" cy="4050000"/>
          </a:xfrm>
        </p:grpSpPr>
        <p:sp>
          <p:nvSpPr>
            <p:cNvPr id="120" name="AutoShape 7"/>
            <p:cNvSpPr/>
            <p:nvPr/>
          </p:nvSpPr>
          <p:spPr>
            <a:xfrm>
              <a:off x="1608480" y="2272680"/>
              <a:ext cx="534960" cy="3272400"/>
            </a:xfrm>
            <a:custGeom>
              <a:avLst/>
              <a:gdLst>
                <a:gd name="textAreaLeft" fmla="*/ 25920 w 534960"/>
                <a:gd name="textAreaRight" fmla="*/ 509040 w 534960"/>
                <a:gd name="textAreaTop" fmla="*/ 25920 h 3272400"/>
                <a:gd name="textAreaBottom" fmla="*/ 3246480 h 3272400"/>
              </a:gdLst>
              <a:ahLst/>
              <a:cxnLst/>
              <a:rect l="textAreaLeft" t="textAreaTop" r="textAreaRight" b="textAreaBottom"/>
              <a:pathLst>
                <a:path w="21600" h="132055">
                  <a:moveTo>
                    <a:pt x="3600" y="0"/>
                  </a:moveTo>
                  <a:lnTo>
                    <a:pt x="3600" y="0"/>
                  </a:lnTo>
                  <a:arcTo wR="3600" hR="3600" stAng="-5400000" swAng="-5400000"/>
                  <a:lnTo>
                    <a:pt x="0" y="3600"/>
                  </a:lnTo>
                  <a:arcTo wR="0" hR="0" stAng="0" swAng="0"/>
                  <a:lnTo>
                    <a:pt x="0" y="128455"/>
                  </a:lnTo>
                  <a:lnTo>
                    <a:pt x="0" y="128455"/>
                  </a:lnTo>
                  <a:arcTo wR="3600" hR="3600" stAng="-10800000" swAng="-5400000"/>
                  <a:lnTo>
                    <a:pt x="3600" y="132055"/>
                  </a:lnTo>
                  <a:arcTo wR="0" hR="0" stAng="0" swAng="0"/>
                  <a:lnTo>
                    <a:pt x="18000" y="132055"/>
                  </a:lnTo>
                  <a:lnTo>
                    <a:pt x="18000" y="132055"/>
                  </a:lnTo>
                  <a:arcTo wR="3600" hR="3600" stAng="5400000" swAng="-5400000"/>
                  <a:lnTo>
                    <a:pt x="21600" y="128455"/>
                  </a:lnTo>
                  <a:arcTo wR="0" hR="0" stAng="0" swAng="0"/>
                  <a:lnTo>
                    <a:pt x="21600" y="3600"/>
                  </a:lnTo>
                  <a:lnTo>
                    <a:pt x="21600" y="3600"/>
                  </a:lnTo>
                  <a:arcTo wR="3600" hR="3600" stAng="0" swAng="-5400000"/>
                  <a:lnTo>
                    <a:pt x="18000" y="0"/>
                  </a:lnTo>
                  <a:arcTo wR="0" hR="0" stAng="0" swAng="0"/>
                  <a:close/>
                </a:path>
              </a:pathLst>
            </a:custGeom>
            <a:solidFill>
              <a:srgbClr val="7030A0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 anchorCtr="1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 Box 8"/>
            <p:cNvSpPr txBox="1"/>
            <p:nvPr/>
          </p:nvSpPr>
          <p:spPr>
            <a:xfrm>
              <a:off x="1266120" y="5618160"/>
              <a:ext cx="1247760" cy="30780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spAutoFit/>
            </a:bodyPr>
            <a:p>
              <a:pPr>
                <a:lnSpc>
                  <a:spcPct val="100000"/>
                </a:lnSpc>
              </a:pPr>
              <a:r>
                <a:rPr lang="zh-TW" sz="1400" b="0" u="none" strike="noStrike">
                  <a:solidFill>
                    <a:srgbClr val="000000"/>
                  </a:solidFill>
                  <a:effectLst/>
                  <a:uFillTx/>
                  <a:latin typeface="微軟正黑體"/>
                  <a:ea typeface="微軟正黑體"/>
                </a:rPr>
                <a:t>權重：</a:t>
              </a: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微軟正黑體"/>
                  <a:ea typeface="微軟正黑體"/>
                </a:rPr>
                <a:t>100%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Text Box 16"/>
            <p:cNvSpPr txBox="1"/>
            <p:nvPr/>
          </p:nvSpPr>
          <p:spPr>
            <a:xfrm>
              <a:off x="8573040" y="2254680"/>
              <a:ext cx="1620360" cy="45756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sp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AutoShape 17"/>
            <p:cNvSpPr/>
            <p:nvPr/>
          </p:nvSpPr>
          <p:spPr>
            <a:xfrm>
              <a:off x="6717240" y="2003040"/>
              <a:ext cx="1866240" cy="306000"/>
            </a:xfrm>
            <a:custGeom>
              <a:avLst/>
              <a:gdLst>
                <a:gd name="textAreaLeft" fmla="*/ 14760 w 1866240"/>
                <a:gd name="textAreaRight" fmla="*/ 1851480 w 1866240"/>
                <a:gd name="textAreaTop" fmla="*/ 14760 h 306000"/>
                <a:gd name="textAreaBottom" fmla="*/ 291240 h 306000"/>
              </a:gdLst>
              <a:ahLst/>
              <a:cxnLst/>
              <a:rect l="textAreaLeft" t="textAreaTop" r="textAreaRight" b="textAreaBottom"/>
              <a:pathLst>
                <a:path w="131605" h="21600">
                  <a:moveTo>
                    <a:pt x="3600" y="0"/>
                  </a:moveTo>
                  <a:lnTo>
                    <a:pt x="3600" y="0"/>
                  </a:lnTo>
                  <a:arcTo wR="3600" hR="3600" stAng="-5400000" swAng="-5400000"/>
                  <a:lnTo>
                    <a:pt x="0" y="3600"/>
                  </a:lnTo>
                  <a:arcTo wR="0" hR="0" stAng="0" swAng="0"/>
                  <a:lnTo>
                    <a:pt x="0" y="18000"/>
                  </a:lnTo>
                  <a:lnTo>
                    <a:pt x="0" y="18000"/>
                  </a:lnTo>
                  <a:arcTo wR="3600" hR="3600" stAng="-10800000" swAng="-5400000"/>
                  <a:lnTo>
                    <a:pt x="3600" y="21600"/>
                  </a:lnTo>
                  <a:arcTo wR="0" hR="0" stAng="0" swAng="0"/>
                  <a:lnTo>
                    <a:pt x="128005" y="21600"/>
                  </a:lnTo>
                  <a:lnTo>
                    <a:pt x="128005" y="21600"/>
                  </a:lnTo>
                  <a:arcTo wR="3600" hR="3600" stAng="5400000" swAng="-5400000"/>
                  <a:lnTo>
                    <a:pt x="131605" y="18000"/>
                  </a:lnTo>
                  <a:arcTo wR="0" hR="0" stAng="0" swAng="0"/>
                  <a:lnTo>
                    <a:pt x="131605" y="3600"/>
                  </a:lnTo>
                  <a:lnTo>
                    <a:pt x="131605" y="3600"/>
                  </a:lnTo>
                  <a:arcTo wR="3600" hR="3600" stAng="0" swAng="-5400000"/>
                  <a:lnTo>
                    <a:pt x="128005" y="0"/>
                  </a:lnTo>
                  <a:arcTo wR="0" hR="0" stAng="0" swAng="0"/>
                  <a:close/>
                </a:path>
              </a:pathLst>
            </a:custGeom>
            <a:solidFill>
              <a:srgbClr val="FF993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</a:pPr>
              <a:r>
                <a:rPr sz="1400" b="1">
                  <a:solidFill>
                    <a:srgbClr val="FFFFFF"/>
                  </a:solidFill>
                  <a:latin typeface="微軟正黑體"/>
                </a:rPr>
                <a:t>A1 約束層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AutoShape 20"/>
            <p:cNvSpPr/>
            <p:nvPr/>
          </p:nvSpPr>
          <p:spPr>
            <a:xfrm>
              <a:off x="6717240" y="2570760"/>
              <a:ext cx="1866240" cy="306000"/>
            </a:xfrm>
            <a:custGeom>
              <a:avLst/>
              <a:gdLst>
                <a:gd name="textAreaLeft" fmla="*/ 14760 w 1866240"/>
                <a:gd name="textAreaRight" fmla="*/ 1851480 w 1866240"/>
                <a:gd name="textAreaTop" fmla="*/ 14760 h 306000"/>
                <a:gd name="textAreaBottom" fmla="*/ 291240 h 306000"/>
              </a:gdLst>
              <a:ahLst/>
              <a:cxnLst/>
              <a:rect l="textAreaLeft" t="textAreaTop" r="textAreaRight" b="textAreaBottom"/>
              <a:pathLst>
                <a:path w="131605" h="21600">
                  <a:moveTo>
                    <a:pt x="3600" y="0"/>
                  </a:moveTo>
                  <a:lnTo>
                    <a:pt x="3600" y="0"/>
                  </a:lnTo>
                  <a:arcTo wR="3600" hR="3600" stAng="-5400000" swAng="-5400000"/>
                  <a:lnTo>
                    <a:pt x="0" y="3600"/>
                  </a:lnTo>
                  <a:arcTo wR="0" hR="0" stAng="0" swAng="0"/>
                  <a:lnTo>
                    <a:pt x="0" y="18000"/>
                  </a:lnTo>
                  <a:lnTo>
                    <a:pt x="0" y="18000"/>
                  </a:lnTo>
                  <a:arcTo wR="3600" hR="3600" stAng="-10800000" swAng="-5400000"/>
                  <a:lnTo>
                    <a:pt x="3600" y="21600"/>
                  </a:lnTo>
                  <a:arcTo wR="0" hR="0" stAng="0" swAng="0"/>
                  <a:lnTo>
                    <a:pt x="128005" y="21600"/>
                  </a:lnTo>
                  <a:lnTo>
                    <a:pt x="128005" y="21600"/>
                  </a:lnTo>
                  <a:arcTo wR="3600" hR="3600" stAng="5400000" swAng="-5400000"/>
                  <a:lnTo>
                    <a:pt x="131605" y="18000"/>
                  </a:lnTo>
                  <a:arcTo wR="0" hR="0" stAng="0" swAng="0"/>
                  <a:lnTo>
                    <a:pt x="131605" y="3600"/>
                  </a:lnTo>
                  <a:lnTo>
                    <a:pt x="131605" y="3600"/>
                  </a:lnTo>
                  <a:arcTo wR="3600" hR="3600" stAng="0" swAng="-5400000"/>
                  <a:lnTo>
                    <a:pt x="128005" y="0"/>
                  </a:lnTo>
                  <a:arcTo wR="0" hR="0" stAng="0" swAng="0"/>
                  <a:close/>
                </a:path>
              </a:pathLst>
            </a:custGeom>
            <a:solidFill>
              <a:srgbClr val="FF9933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</a:pPr>
              <a:r>
                <a:rPr sz="1400" b="1">
                  <a:solidFill>
                    <a:srgbClr val="FFFFFF"/>
                  </a:solidFill>
                  <a:latin typeface="微軟正黑體"/>
                </a:rPr>
                <a:t>A2 記憶感知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Text Box 40"/>
            <p:cNvSpPr txBox="1"/>
            <p:nvPr/>
          </p:nvSpPr>
          <p:spPr>
            <a:xfrm>
              <a:off x="4614480" y="2705400"/>
              <a:ext cx="1516680" cy="30780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spAutoFit/>
            </a:bodyPr>
            <a:p>
              <a:pPr>
                <a:lnSpc>
                  <a:spcPct val="100000"/>
                </a:lnSpc>
              </a:pPr>
              <a:r>
                <a:rPr sz="1400" b="0">
                  <a:solidFill>
                    <a:srgbClr val="000000"/>
                  </a:solidFill>
                  <a:latin typeface="微軟正黑體"/>
                </a:rPr>
                <a:t>權重： 22%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AutoShape 41"/>
            <p:cNvSpPr/>
            <p:nvPr/>
          </p:nvSpPr>
          <p:spPr>
            <a:xfrm>
              <a:off x="4656600" y="2278080"/>
              <a:ext cx="1564920" cy="360000"/>
            </a:xfrm>
            <a:custGeom>
              <a:avLst/>
              <a:gdLst>
                <a:gd name="textAreaLeft" fmla="*/ 17280 w 1564920"/>
                <a:gd name="textAreaRight" fmla="*/ 1547640 w 1564920"/>
                <a:gd name="textAreaTop" fmla="*/ 17280 h 360000"/>
                <a:gd name="textAreaBottom" fmla="*/ 342720 h 360000"/>
              </a:gdLst>
              <a:ahLst/>
              <a:cxnLst/>
              <a:rect l="textAreaLeft" t="textAreaTop" r="textAreaRight" b="textAreaBottom"/>
              <a:pathLst>
                <a:path w="93823" h="21600">
                  <a:moveTo>
                    <a:pt x="3600" y="0"/>
                  </a:moveTo>
                  <a:lnTo>
                    <a:pt x="3600" y="0"/>
                  </a:lnTo>
                  <a:arcTo wR="3600" hR="3600" stAng="-5400000" swAng="-5400000"/>
                  <a:lnTo>
                    <a:pt x="0" y="3600"/>
                  </a:lnTo>
                  <a:arcTo wR="0" hR="0" stAng="0" swAng="0"/>
                  <a:lnTo>
                    <a:pt x="0" y="18000"/>
                  </a:lnTo>
                  <a:lnTo>
                    <a:pt x="0" y="18000"/>
                  </a:lnTo>
                  <a:arcTo wR="3600" hR="3600" stAng="-10800000" swAng="-5400000"/>
                  <a:lnTo>
                    <a:pt x="3600" y="21600"/>
                  </a:lnTo>
                  <a:arcTo wR="0" hR="0" stAng="0" swAng="0"/>
                  <a:lnTo>
                    <a:pt x="90223" y="21600"/>
                  </a:lnTo>
                  <a:lnTo>
                    <a:pt x="90223" y="21600"/>
                  </a:lnTo>
                  <a:arcTo wR="3600" hR="3600" stAng="5400000" swAng="-5400000"/>
                  <a:lnTo>
                    <a:pt x="93823" y="18000"/>
                  </a:lnTo>
                  <a:arcTo wR="0" hR="0" stAng="0" swAng="0"/>
                  <a:lnTo>
                    <a:pt x="93823" y="3600"/>
                  </a:lnTo>
                  <a:lnTo>
                    <a:pt x="93823" y="3600"/>
                  </a:lnTo>
                  <a:arcTo wR="3600" hR="3600" stAng="0" swAng="-5400000"/>
                  <a:lnTo>
                    <a:pt x="90223" y="0"/>
                  </a:lnTo>
                  <a:arcTo wR="0" hR="0" stAng="0" swAng="0"/>
                  <a:close/>
                </a:path>
              </a:pathLst>
            </a:custGeom>
            <a:solidFill>
              <a:srgbClr val="FF6600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</a:pPr>
              <a:r>
                <a:rPr sz="1400" b="1">
                  <a:solidFill>
                    <a:srgbClr val="FFFFFF"/>
                  </a:solidFill>
                  <a:latin typeface="微軟正黑體"/>
                </a:rPr>
                <a:t>A 照護智慧深化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Text Box 16"/>
            <p:cNvSpPr txBox="1"/>
            <p:nvPr/>
          </p:nvSpPr>
          <p:spPr>
            <a:xfrm>
              <a:off x="8573040" y="2629440"/>
              <a:ext cx="1383120" cy="45756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sp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Text Box 4"/>
            <p:cNvSpPr txBox="1"/>
            <p:nvPr/>
          </p:nvSpPr>
          <p:spPr>
            <a:xfrm>
              <a:off x="4614480" y="4236480"/>
              <a:ext cx="1516680" cy="30780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spAutoFit/>
            </a:bodyPr>
            <a:p>
              <a:pPr>
                <a:lnSpc>
                  <a:spcPct val="100000"/>
                </a:lnSpc>
              </a:pPr>
              <a:r>
                <a:rPr sz="1400" b="0">
                  <a:solidFill>
                    <a:srgbClr val="000000"/>
                  </a:solidFill>
                  <a:latin typeface="微軟正黑體"/>
                </a:rPr>
                <a:t>權重： 30%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AutoShape 5"/>
            <p:cNvSpPr/>
            <p:nvPr/>
          </p:nvSpPr>
          <p:spPr>
            <a:xfrm>
              <a:off x="4658040" y="3773160"/>
              <a:ext cx="1566000" cy="360000"/>
            </a:xfrm>
            <a:custGeom>
              <a:avLst/>
              <a:gdLst>
                <a:gd name="textAreaLeft" fmla="*/ 17280 w 1566000"/>
                <a:gd name="textAreaRight" fmla="*/ 1548720 w 1566000"/>
                <a:gd name="textAreaTop" fmla="*/ 17280 h 360000"/>
                <a:gd name="textAreaBottom" fmla="*/ 342720 h 360000"/>
              </a:gdLst>
              <a:ahLst/>
              <a:cxnLst/>
              <a:rect l="textAreaLeft" t="textAreaTop" r="textAreaRight" b="textAreaBottom"/>
              <a:pathLst>
                <a:path w="93888" h="21600">
                  <a:moveTo>
                    <a:pt x="3600" y="0"/>
                  </a:moveTo>
                  <a:lnTo>
                    <a:pt x="3600" y="0"/>
                  </a:lnTo>
                  <a:arcTo wR="3600" hR="3600" stAng="-5400000" swAng="-5400000"/>
                  <a:lnTo>
                    <a:pt x="0" y="3600"/>
                  </a:lnTo>
                  <a:arcTo wR="0" hR="0" stAng="0" swAng="0"/>
                  <a:lnTo>
                    <a:pt x="0" y="18000"/>
                  </a:lnTo>
                  <a:lnTo>
                    <a:pt x="0" y="18000"/>
                  </a:lnTo>
                  <a:arcTo wR="3600" hR="3600" stAng="-10800000" swAng="-5400000"/>
                  <a:lnTo>
                    <a:pt x="3600" y="21600"/>
                  </a:lnTo>
                  <a:arcTo wR="0" hR="0" stAng="0" swAng="0"/>
                  <a:lnTo>
                    <a:pt x="90288" y="21600"/>
                  </a:lnTo>
                  <a:lnTo>
                    <a:pt x="90288" y="21600"/>
                  </a:lnTo>
                  <a:arcTo wR="3600" hR="3600" stAng="5400000" swAng="-5400000"/>
                  <a:lnTo>
                    <a:pt x="93888" y="18000"/>
                  </a:lnTo>
                  <a:arcTo wR="0" hR="0" stAng="0" swAng="0"/>
                  <a:lnTo>
                    <a:pt x="93888" y="3600"/>
                  </a:lnTo>
                  <a:lnTo>
                    <a:pt x="93888" y="3600"/>
                  </a:lnTo>
                  <a:arcTo wR="3600" hR="3600" stAng="0" swAng="-5400000"/>
                  <a:lnTo>
                    <a:pt x="90288" y="0"/>
                  </a:lnTo>
                  <a:arcTo wR="0" hR="0" stAng="0" swAng="0"/>
                  <a:close/>
                </a:path>
              </a:pathLst>
            </a:custGeom>
            <a:solidFill>
              <a:srgbClr val="0070C0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marL="88920" indent="-88920">
                <a:lnSpc>
                  <a:spcPct val="100000"/>
                </a:lnSpc>
              </a:pPr>
              <a:r>
                <a:rPr sz="1400" b="1">
                  <a:solidFill>
                    <a:srgbClr val="FFFFFF"/>
                  </a:solidFill>
                  <a:latin typeface="微軟正黑體"/>
                </a:rPr>
                <a:t>B 多平台開發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AutoShape 23"/>
            <p:cNvSpPr/>
            <p:nvPr/>
          </p:nvSpPr>
          <p:spPr>
            <a:xfrm>
              <a:off x="6707160" y="3481200"/>
              <a:ext cx="1864800" cy="306000"/>
            </a:xfrm>
            <a:custGeom>
              <a:avLst/>
              <a:gdLst>
                <a:gd name="textAreaLeft" fmla="*/ 14760 w 1864800"/>
                <a:gd name="textAreaRight" fmla="*/ 1850040 w 1864800"/>
                <a:gd name="textAreaTop" fmla="*/ 14760 h 306000"/>
                <a:gd name="textAreaBottom" fmla="*/ 291240 h 306000"/>
              </a:gdLst>
              <a:ahLst/>
              <a:cxnLst/>
              <a:rect l="textAreaLeft" t="textAreaTop" r="textAreaRight" b="textAreaBottom"/>
              <a:pathLst>
                <a:path w="131504" h="21600">
                  <a:moveTo>
                    <a:pt x="3600" y="0"/>
                  </a:moveTo>
                  <a:lnTo>
                    <a:pt x="3600" y="0"/>
                  </a:lnTo>
                  <a:arcTo wR="3600" hR="3600" stAng="-5400000" swAng="-5400000"/>
                  <a:lnTo>
                    <a:pt x="0" y="3600"/>
                  </a:lnTo>
                  <a:arcTo wR="0" hR="0" stAng="0" swAng="0"/>
                  <a:lnTo>
                    <a:pt x="0" y="18000"/>
                  </a:lnTo>
                  <a:lnTo>
                    <a:pt x="0" y="18000"/>
                  </a:lnTo>
                  <a:arcTo wR="3600" hR="3600" stAng="-10800000" swAng="-5400000"/>
                  <a:lnTo>
                    <a:pt x="3600" y="21600"/>
                  </a:lnTo>
                  <a:arcTo wR="0" hR="0" stAng="0" swAng="0"/>
                  <a:lnTo>
                    <a:pt x="127904" y="21600"/>
                  </a:lnTo>
                  <a:lnTo>
                    <a:pt x="127904" y="21600"/>
                  </a:lnTo>
                  <a:arcTo wR="3600" hR="3600" stAng="5400000" swAng="-5400000"/>
                  <a:lnTo>
                    <a:pt x="131504" y="18000"/>
                  </a:lnTo>
                  <a:arcTo wR="0" hR="0" stAng="0" swAng="0"/>
                  <a:lnTo>
                    <a:pt x="131504" y="3600"/>
                  </a:lnTo>
                  <a:lnTo>
                    <a:pt x="131504" y="3600"/>
                  </a:lnTo>
                  <a:arcTo wR="3600" hR="3600" stAng="0" swAng="-5400000"/>
                  <a:lnTo>
                    <a:pt x="127904" y="0"/>
                  </a:lnTo>
                  <a:arcTo wR="0" hR="0" stAng="0" swAng="0"/>
                  <a:close/>
                </a:path>
              </a:pathLst>
            </a:custGeom>
            <a:solidFill>
              <a:srgbClr val="00B0F0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</a:pPr>
              <a:r>
                <a:rPr sz="1400" b="1">
                  <a:solidFill>
                    <a:srgbClr val="FFFFFF"/>
                  </a:solidFill>
                  <a:latin typeface="微軟正黑體"/>
                </a:rPr>
                <a:t>B1 Android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AutoShape 26"/>
            <p:cNvSpPr/>
            <p:nvPr/>
          </p:nvSpPr>
          <p:spPr>
            <a:xfrm>
              <a:off x="6717600" y="4074120"/>
              <a:ext cx="1864800" cy="306000"/>
            </a:xfrm>
            <a:custGeom>
              <a:avLst/>
              <a:gdLst>
                <a:gd name="textAreaLeft" fmla="*/ 14760 w 1864800"/>
                <a:gd name="textAreaRight" fmla="*/ 1850040 w 1864800"/>
                <a:gd name="textAreaTop" fmla="*/ 14760 h 306000"/>
                <a:gd name="textAreaBottom" fmla="*/ 291240 h 306000"/>
              </a:gdLst>
              <a:ahLst/>
              <a:cxnLst/>
              <a:rect l="textAreaLeft" t="textAreaTop" r="textAreaRight" b="textAreaBottom"/>
              <a:pathLst>
                <a:path w="131504" h="21600">
                  <a:moveTo>
                    <a:pt x="3600" y="0"/>
                  </a:moveTo>
                  <a:lnTo>
                    <a:pt x="3600" y="0"/>
                  </a:lnTo>
                  <a:arcTo wR="3600" hR="3600" stAng="-5400000" swAng="-5400000"/>
                  <a:lnTo>
                    <a:pt x="0" y="3600"/>
                  </a:lnTo>
                  <a:arcTo wR="0" hR="0" stAng="0" swAng="0"/>
                  <a:lnTo>
                    <a:pt x="0" y="18000"/>
                  </a:lnTo>
                  <a:lnTo>
                    <a:pt x="0" y="18000"/>
                  </a:lnTo>
                  <a:arcTo wR="3600" hR="3600" stAng="-10800000" swAng="-5400000"/>
                  <a:lnTo>
                    <a:pt x="3600" y="21600"/>
                  </a:lnTo>
                  <a:arcTo wR="0" hR="0" stAng="0" swAng="0"/>
                  <a:lnTo>
                    <a:pt x="127904" y="21600"/>
                  </a:lnTo>
                  <a:lnTo>
                    <a:pt x="127904" y="21600"/>
                  </a:lnTo>
                  <a:arcTo wR="3600" hR="3600" stAng="5400000" swAng="-5400000"/>
                  <a:lnTo>
                    <a:pt x="131504" y="18000"/>
                  </a:lnTo>
                  <a:arcTo wR="0" hR="0" stAng="0" swAng="0"/>
                  <a:lnTo>
                    <a:pt x="131504" y="3600"/>
                  </a:lnTo>
                  <a:lnTo>
                    <a:pt x="131504" y="3600"/>
                  </a:lnTo>
                  <a:arcTo wR="3600" hR="3600" stAng="0" swAng="-5400000"/>
                  <a:lnTo>
                    <a:pt x="127904" y="0"/>
                  </a:lnTo>
                  <a:arcTo wR="0" hR="0" stAng="0" swAng="0"/>
                  <a:close/>
                </a:path>
              </a:pathLst>
            </a:custGeom>
            <a:solidFill>
              <a:srgbClr val="00B0F0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</a:pPr>
              <a:r>
                <a:rPr sz="1400" b="1">
                  <a:solidFill>
                    <a:srgbClr val="FFFFFF"/>
                  </a:solidFill>
                  <a:latin typeface="微軟正黑體"/>
                </a:rPr>
                <a:t>B2 iOS+UIUX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Text Box 16"/>
            <p:cNvSpPr txBox="1"/>
            <p:nvPr/>
          </p:nvSpPr>
          <p:spPr>
            <a:xfrm>
              <a:off x="8867880" y="1945080"/>
              <a:ext cx="1383120" cy="46152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spAutoFit/>
            </a:bodyPr>
            <a:p>
              <a:pPr>
                <a:lnSpc>
                  <a:spcPct val="100000"/>
                </a:lnSpc>
              </a:pPr>
              <a:r>
                <a:rPr sz="1100" b="0">
                  <a:solidFill>
                    <a:srgbClr val="000000"/>
                  </a:solidFill>
                  <a:latin typeface="微軟正黑體"/>
                </a:rPr>
                <a:t>執行單位：嘉瑪科技
委託單位：無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Text Box 10"/>
            <p:cNvSpPr txBox="1"/>
            <p:nvPr/>
          </p:nvSpPr>
          <p:spPr>
            <a:xfrm>
              <a:off x="4609080" y="5476320"/>
              <a:ext cx="1121040" cy="51876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spAutoFit/>
            </a:bodyPr>
            <a:p>
              <a:pPr>
                <a:lnSpc>
                  <a:spcPct val="100000"/>
                </a:lnSpc>
              </a:pPr>
              <a:r>
                <a:rPr sz="1400" b="0">
                  <a:solidFill>
                    <a:srgbClr val="000000"/>
                  </a:solidFill>
                  <a:latin typeface="微軟正黑體"/>
                </a:rPr>
                <a:t>權重： 26%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AutoShape 11"/>
            <p:cNvSpPr/>
            <p:nvPr/>
          </p:nvSpPr>
          <p:spPr>
            <a:xfrm>
              <a:off x="4659480" y="5065200"/>
              <a:ext cx="1566000" cy="360000"/>
            </a:xfrm>
            <a:custGeom>
              <a:avLst/>
              <a:gdLst>
                <a:gd name="textAreaLeft" fmla="*/ 17280 w 1566000"/>
                <a:gd name="textAreaRight" fmla="*/ 1548720 w 1566000"/>
                <a:gd name="textAreaTop" fmla="*/ 17280 h 360000"/>
                <a:gd name="textAreaBottom" fmla="*/ 342720 h 360000"/>
              </a:gdLst>
              <a:ahLst/>
              <a:cxnLst/>
              <a:rect l="textAreaLeft" t="textAreaTop" r="textAreaRight" b="textAreaBottom"/>
              <a:pathLst>
                <a:path w="93888" h="21600">
                  <a:moveTo>
                    <a:pt x="3600" y="0"/>
                  </a:moveTo>
                  <a:lnTo>
                    <a:pt x="3600" y="0"/>
                  </a:lnTo>
                  <a:arcTo wR="3600" hR="3600" stAng="-5400000" swAng="-5400000"/>
                  <a:lnTo>
                    <a:pt x="0" y="3600"/>
                  </a:lnTo>
                  <a:arcTo wR="0" hR="0" stAng="0" swAng="0"/>
                  <a:lnTo>
                    <a:pt x="0" y="18000"/>
                  </a:lnTo>
                  <a:lnTo>
                    <a:pt x="0" y="18000"/>
                  </a:lnTo>
                  <a:arcTo wR="3600" hR="3600" stAng="-10800000" swAng="-5400000"/>
                  <a:lnTo>
                    <a:pt x="3600" y="21600"/>
                  </a:lnTo>
                  <a:arcTo wR="0" hR="0" stAng="0" swAng="0"/>
                  <a:lnTo>
                    <a:pt x="90288" y="21600"/>
                  </a:lnTo>
                  <a:lnTo>
                    <a:pt x="90288" y="21600"/>
                  </a:lnTo>
                  <a:arcTo wR="3600" hR="3600" stAng="5400000" swAng="-5400000"/>
                  <a:lnTo>
                    <a:pt x="93888" y="18000"/>
                  </a:lnTo>
                  <a:arcTo wR="0" hR="0" stAng="0" swAng="0"/>
                  <a:lnTo>
                    <a:pt x="93888" y="3600"/>
                  </a:lnTo>
                  <a:lnTo>
                    <a:pt x="93888" y="3600"/>
                  </a:lnTo>
                  <a:arcTo wR="3600" hR="3600" stAng="0" swAng="-5400000"/>
                  <a:lnTo>
                    <a:pt x="90288" y="0"/>
                  </a:lnTo>
                  <a:arcTo wR="0" hR="0" stAng="0" swAng="0"/>
                  <a:close/>
                </a:path>
              </a:pathLst>
            </a:custGeom>
            <a:solidFill>
              <a:srgbClr val="00B050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marL="88920" indent="-88920">
                <a:lnSpc>
                  <a:spcPct val="100000"/>
                </a:lnSpc>
              </a:pPr>
              <a:r>
                <a:rPr sz="1400" b="1">
                  <a:solidFill>
                    <a:srgbClr val="FFFFFF"/>
                  </a:solidFill>
                  <a:latin typeface="微軟正黑體"/>
                </a:rPr>
                <a:t>C 營運後台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Text Box 16"/>
            <p:cNvSpPr txBox="1"/>
            <p:nvPr/>
          </p:nvSpPr>
          <p:spPr>
            <a:xfrm>
              <a:off x="8867880" y="2590200"/>
              <a:ext cx="1383120" cy="27684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spAutoFit/>
            </a:bodyPr>
            <a:p>
              <a:pPr>
                <a:lnSpc>
                  <a:spcPct val="100000"/>
                </a:lnSpc>
              </a:pPr>
              <a:r>
                <a:rPr sz="1100" b="0">
                  <a:solidFill>
                    <a:srgbClr val="000000"/>
                  </a:solidFill>
                  <a:latin typeface="微軟正黑體"/>
                </a:rPr>
                <a:t>執行單位：嘉瑪科技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Text Box 16"/>
            <p:cNvSpPr txBox="1"/>
            <p:nvPr/>
          </p:nvSpPr>
          <p:spPr>
            <a:xfrm>
              <a:off x="8827560" y="3484440"/>
              <a:ext cx="1383120" cy="27684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spAutoFit/>
            </a:bodyPr>
            <a:p>
              <a:pPr>
                <a:lnSpc>
                  <a:spcPct val="100000"/>
                </a:lnSpc>
              </a:pPr>
              <a:r>
                <a:rPr sz="1100" b="0">
                  <a:solidFill>
                    <a:srgbClr val="000000"/>
                  </a:solidFill>
                  <a:latin typeface="微軟正黑體"/>
                </a:rPr>
                <a:t>執行單位：嘉瑪科技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Text Box 16"/>
            <p:cNvSpPr txBox="1"/>
            <p:nvPr/>
          </p:nvSpPr>
          <p:spPr>
            <a:xfrm>
              <a:off x="8827560" y="4098240"/>
              <a:ext cx="1383120" cy="27684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spAutoFit/>
            </a:bodyPr>
            <a:p>
              <a:pPr>
                <a:lnSpc>
                  <a:spcPct val="100000"/>
                </a:lnSpc>
              </a:pPr>
              <a:r>
                <a:rPr sz="1100" b="0">
                  <a:solidFill>
                    <a:srgbClr val="000000"/>
                  </a:solidFill>
                  <a:latin typeface="微軟正黑體"/>
                </a:rPr>
                <a:t>驗證單位：愛台灣驗證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文字方塊 76"/>
            <p:cNvSpPr txBox="1"/>
            <p:nvPr/>
          </p:nvSpPr>
          <p:spPr>
            <a:xfrm>
              <a:off x="1371960" y="2395800"/>
              <a:ext cx="738720" cy="3240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45720" tIns="91440" rIns="45720" bIns="91440" anchor="t" vert="eaVert">
              <a:noAutofit/>
            </a:bodyPr>
            <a:p>
              <a:pPr algn="ctr">
                <a:lnSpc>
                  <a:spcPct val="100000"/>
                </a:lnSpc>
              </a:pPr>
              <a:r>
                <a:rPr sz="1600" b="1">
                  <a:solidFill>
                    <a:srgbClr val="FFFFFF"/>
                  </a:solidFill>
                  <a:latin typeface="微軟正黑體"/>
                </a:rPr>
                <a:t>Munea 沐寧計畫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9" name="直線接點 50"/>
          <p:cNvCxnSpPr/>
          <p:nvPr/>
        </p:nvCxnSpPr>
        <p:spPr>
          <a:xfrm>
            <a:off x="3367800" y="3940200"/>
            <a:ext cx="1241640" cy="360"/>
          </a:xfrm>
          <a:prstGeom prst="straightConnector1">
            <a:avLst/>
          </a:prstGeom>
          <a:ln w="19080">
            <a:solidFill>
              <a:srgbClr val="156082"/>
            </a:solidFill>
            <a:miter/>
          </a:ln>
        </p:spPr>
      </p:cxnSp>
      <p:cxnSp>
        <p:nvCxnSpPr>
          <p:cNvPr id="140" name="直線接點 52"/>
          <p:cNvCxnSpPr/>
          <p:nvPr/>
        </p:nvCxnSpPr>
        <p:spPr>
          <a:xfrm>
            <a:off x="3398400" y="5227920"/>
            <a:ext cx="1211040" cy="360"/>
          </a:xfrm>
          <a:prstGeom prst="straightConnector1">
            <a:avLst/>
          </a:prstGeom>
          <a:ln w="19080">
            <a:solidFill>
              <a:srgbClr val="156082"/>
            </a:solidFill>
            <a:miter/>
          </a:ln>
        </p:spPr>
      </p:cxnSp>
      <p:grpSp>
        <p:nvGrpSpPr>
          <p:cNvPr id="141" name="群組 82"/>
          <p:cNvGrpSpPr/>
          <p:nvPr/>
        </p:nvGrpSpPr>
        <p:grpSpPr>
          <a:xfrm>
            <a:off x="2211840" y="2418480"/>
            <a:ext cx="2397240" cy="2812680"/>
            <a:chOff x="2211840" y="2418480"/>
            <a:chExt cx="2397240" cy="2812680"/>
          </a:xfrm>
        </p:grpSpPr>
        <p:cxnSp>
          <p:nvCxnSpPr>
            <p:cNvPr id="142" name="接點: 肘形 43"/>
            <p:cNvCxnSpPr/>
            <p:nvPr/>
          </p:nvCxnSpPr>
          <p:spPr>
            <a:xfrm flipV="1">
              <a:off x="2211840" y="2418480"/>
              <a:ext cx="2397600" cy="1522800"/>
            </a:xfrm>
            <a:prstGeom prst="bentConnector2">
              <a:avLst/>
            </a:prstGeom>
            <a:ln w="19080">
              <a:solidFill>
                <a:srgbClr val="156082"/>
              </a:solidFill>
              <a:miter/>
            </a:ln>
          </p:spPr>
        </p:cxnSp>
        <p:cxnSp>
          <p:nvCxnSpPr>
            <p:cNvPr id="143" name="直線接點 53"/>
            <p:cNvCxnSpPr/>
            <p:nvPr/>
          </p:nvCxnSpPr>
          <p:spPr>
            <a:xfrm>
              <a:off x="3407400" y="3940200"/>
              <a:ext cx="360" cy="1291320"/>
            </a:xfrm>
            <a:prstGeom prst="straightConnector1">
              <a:avLst/>
            </a:prstGeom>
            <a:ln w="19080">
              <a:solidFill>
                <a:srgbClr val="156082"/>
              </a:solidFill>
              <a:miter/>
            </a:ln>
          </p:spPr>
        </p:cxnSp>
      </p:grpSp>
      <p:grpSp>
        <p:nvGrpSpPr>
          <p:cNvPr id="144" name="群組 116"/>
          <p:cNvGrpSpPr/>
          <p:nvPr/>
        </p:nvGrpSpPr>
        <p:grpSpPr>
          <a:xfrm>
            <a:off x="6221520" y="2156040"/>
            <a:ext cx="474840" cy="567720"/>
            <a:chOff x="6221520" y="2156040"/>
            <a:chExt cx="474840" cy="567720"/>
          </a:xfrm>
        </p:grpSpPr>
        <p:cxnSp>
          <p:nvCxnSpPr>
            <p:cNvPr id="145" name="直線接點 98"/>
            <p:cNvCxnSpPr/>
            <p:nvPr/>
          </p:nvCxnSpPr>
          <p:spPr>
            <a:xfrm>
              <a:off x="6511320" y="2157840"/>
              <a:ext cx="181440" cy="360"/>
            </a:xfrm>
            <a:prstGeom prst="straightConnector1">
              <a:avLst/>
            </a:prstGeom>
            <a:ln w="19080">
              <a:solidFill>
                <a:srgbClr val="156082"/>
              </a:solidFill>
              <a:miter/>
            </a:ln>
          </p:spPr>
        </p:cxnSp>
        <p:cxnSp>
          <p:nvCxnSpPr>
            <p:cNvPr id="146" name="直線接點 94"/>
            <p:cNvCxnSpPr/>
            <p:nvPr/>
          </p:nvCxnSpPr>
          <p:spPr>
            <a:xfrm>
              <a:off x="6221520" y="2435760"/>
              <a:ext cx="288360" cy="360"/>
            </a:xfrm>
            <a:prstGeom prst="straightConnector1">
              <a:avLst/>
            </a:prstGeom>
            <a:ln w="19080">
              <a:solidFill>
                <a:srgbClr val="156082"/>
              </a:solidFill>
              <a:miter/>
            </a:ln>
          </p:spPr>
        </p:cxnSp>
        <p:cxnSp>
          <p:nvCxnSpPr>
            <p:cNvPr id="147" name="直線接點 96"/>
            <p:cNvCxnSpPr/>
            <p:nvPr/>
          </p:nvCxnSpPr>
          <p:spPr>
            <a:xfrm>
              <a:off x="6518880" y="2156040"/>
              <a:ext cx="360" cy="288360"/>
            </a:xfrm>
            <a:prstGeom prst="straightConnector1">
              <a:avLst/>
            </a:prstGeom>
            <a:ln w="19080">
              <a:solidFill>
                <a:srgbClr val="156082"/>
              </a:solidFill>
              <a:miter/>
            </a:ln>
          </p:spPr>
        </p:cxnSp>
        <p:grpSp>
          <p:nvGrpSpPr>
            <p:cNvPr id="148" name="群組 108"/>
            <p:cNvGrpSpPr/>
            <p:nvPr/>
          </p:nvGrpSpPr>
          <p:grpSpPr>
            <a:xfrm>
              <a:off x="6515280" y="2435760"/>
              <a:ext cx="181080" cy="288000"/>
              <a:chOff x="6515280" y="2435760"/>
              <a:chExt cx="181080" cy="288000"/>
            </a:xfrm>
          </p:grpSpPr>
          <p:cxnSp>
            <p:nvCxnSpPr>
              <p:cNvPr id="149" name="直線接點 106"/>
              <p:cNvCxnSpPr/>
              <p:nvPr/>
            </p:nvCxnSpPr>
            <p:spPr>
              <a:xfrm>
                <a:off x="6518880" y="2435760"/>
                <a:ext cx="360" cy="288360"/>
              </a:xfrm>
              <a:prstGeom prst="straightConnector1">
                <a:avLst/>
              </a:prstGeom>
              <a:ln w="19080">
                <a:solidFill>
                  <a:srgbClr val="156082"/>
                </a:solidFill>
                <a:miter/>
              </a:ln>
            </p:spPr>
          </p:cxnSp>
          <p:cxnSp>
            <p:nvCxnSpPr>
              <p:cNvPr id="150" name="直線接點 107"/>
              <p:cNvCxnSpPr/>
              <p:nvPr/>
            </p:nvCxnSpPr>
            <p:spPr>
              <a:xfrm>
                <a:off x="6515280" y="2716200"/>
                <a:ext cx="181440" cy="360"/>
              </a:xfrm>
              <a:prstGeom prst="straightConnector1">
                <a:avLst/>
              </a:prstGeom>
              <a:ln w="19080">
                <a:solidFill>
                  <a:srgbClr val="156082"/>
                </a:solidFill>
                <a:miter/>
              </a:ln>
            </p:spPr>
          </p:cxnSp>
        </p:grpSp>
      </p:grpSp>
      <p:grpSp>
        <p:nvGrpSpPr>
          <p:cNvPr id="151" name="群組 117"/>
          <p:cNvGrpSpPr/>
          <p:nvPr/>
        </p:nvGrpSpPr>
        <p:grpSpPr>
          <a:xfrm>
            <a:off x="6221520" y="3687840"/>
            <a:ext cx="474840" cy="567360"/>
            <a:chOff x="6221520" y="3687840"/>
            <a:chExt cx="474840" cy="567360"/>
          </a:xfrm>
        </p:grpSpPr>
        <p:cxnSp>
          <p:nvCxnSpPr>
            <p:cNvPr id="152" name="直線接點 118"/>
            <p:cNvCxnSpPr/>
            <p:nvPr/>
          </p:nvCxnSpPr>
          <p:spPr>
            <a:xfrm>
              <a:off x="6511320" y="3689280"/>
              <a:ext cx="181440" cy="360"/>
            </a:xfrm>
            <a:prstGeom prst="straightConnector1">
              <a:avLst/>
            </a:prstGeom>
            <a:ln w="19080">
              <a:solidFill>
                <a:srgbClr val="156082"/>
              </a:solidFill>
              <a:miter/>
            </a:ln>
          </p:spPr>
        </p:cxnSp>
        <p:cxnSp>
          <p:nvCxnSpPr>
            <p:cNvPr id="153" name="直線接點 119"/>
            <p:cNvCxnSpPr/>
            <p:nvPr/>
          </p:nvCxnSpPr>
          <p:spPr>
            <a:xfrm>
              <a:off x="6221520" y="3967200"/>
              <a:ext cx="288360" cy="360"/>
            </a:xfrm>
            <a:prstGeom prst="straightConnector1">
              <a:avLst/>
            </a:prstGeom>
            <a:ln w="19080">
              <a:solidFill>
                <a:srgbClr val="156082"/>
              </a:solidFill>
              <a:miter/>
            </a:ln>
          </p:spPr>
        </p:cxnSp>
        <p:cxnSp>
          <p:nvCxnSpPr>
            <p:cNvPr id="154" name="直線接點 120"/>
            <p:cNvCxnSpPr/>
            <p:nvPr/>
          </p:nvCxnSpPr>
          <p:spPr>
            <a:xfrm>
              <a:off x="6518880" y="3687840"/>
              <a:ext cx="360" cy="288360"/>
            </a:xfrm>
            <a:prstGeom prst="straightConnector1">
              <a:avLst/>
            </a:prstGeom>
            <a:ln w="19080">
              <a:solidFill>
                <a:srgbClr val="156082"/>
              </a:solidFill>
              <a:miter/>
            </a:ln>
          </p:spPr>
        </p:cxnSp>
        <p:grpSp>
          <p:nvGrpSpPr>
            <p:cNvPr id="155" name="群組 121"/>
            <p:cNvGrpSpPr/>
            <p:nvPr/>
          </p:nvGrpSpPr>
          <p:grpSpPr>
            <a:xfrm>
              <a:off x="6515280" y="3967200"/>
              <a:ext cx="181080" cy="288000"/>
              <a:chOff x="6515280" y="3967200"/>
              <a:chExt cx="181080" cy="288000"/>
            </a:xfrm>
          </p:grpSpPr>
          <p:cxnSp>
            <p:nvCxnSpPr>
              <p:cNvPr id="156" name="直線接點 122"/>
              <p:cNvCxnSpPr/>
              <p:nvPr/>
            </p:nvCxnSpPr>
            <p:spPr>
              <a:xfrm>
                <a:off x="6518880" y="3967200"/>
                <a:ext cx="360" cy="288360"/>
              </a:xfrm>
              <a:prstGeom prst="straightConnector1">
                <a:avLst/>
              </a:prstGeom>
              <a:ln w="19080">
                <a:solidFill>
                  <a:srgbClr val="156082"/>
                </a:solidFill>
                <a:miter/>
              </a:ln>
            </p:spPr>
          </p:cxnSp>
          <p:cxnSp>
            <p:nvCxnSpPr>
              <p:cNvPr id="157" name="直線接點 123"/>
              <p:cNvCxnSpPr/>
              <p:nvPr/>
            </p:nvCxnSpPr>
            <p:spPr>
              <a:xfrm>
                <a:off x="6515280" y="4247640"/>
                <a:ext cx="181440" cy="360"/>
              </a:xfrm>
              <a:prstGeom prst="straightConnector1">
                <a:avLst/>
              </a:prstGeom>
              <a:ln w="19080">
                <a:solidFill>
                  <a:srgbClr val="156082"/>
                </a:solidFill>
                <a:miter/>
              </a:ln>
            </p:spPr>
          </p:cxnSp>
        </p:grpSp>
      </p:grpSp>
      <p:sp>
        <p:nvSpPr>
          <p:cNvPr id="158" name="標題 1"/>
          <p:cNvSpPr txBox="1"/>
          <p:nvPr/>
        </p:nvSpPr>
        <p:spPr>
          <a:xfrm>
            <a:off x="1981080" y="11664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五</a:t>
            </a: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、實施方法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700000" y="6120000"/>
            <a:ext cx="1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212121"/>
                </a:solidFill>
                <a:latin typeface="微軟正黑體"/>
              </a:rPr>
              <a:t>另含：D 資安與品質驗證（12%）・E 場域驗證與導入（10%）；統籌：曾宇晞＋陳少喬。完整分項與工作項目詳第 15 頁。</a:t>
            </a: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標題 1"/>
          <p:cNvSpPr txBox="1"/>
          <p:nvPr/>
        </p:nvSpPr>
        <p:spPr>
          <a:xfrm>
            <a:off x="1080720" y="22888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t" wrap="square">
            <a:normAutofit/>
          </a:bodyPr>
          <a:p>
            <a:pPr>
              <a:lnSpc>
                <a:spcPct val="9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A AI 照護智慧核心深化（22%）｜黃聖育、林勇全：心理支持約束層（CBT／ACT／MI 對話分寸控制）；記憶情境感知與安全守護規則深化。產出：約束層上線報告＋對話品質測試報告、深化驗收報告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B 多平台應用開發（30%）｜袁震宇、黃郁筑、陳佩珊、陳少喬：Android 版新開發；iOS 優化＋前端管理介面；UIUX 設計與多平台套用。產出：Android 版驗收報告、iOS 優化驗收報告、UIUX 定稿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C 營運後台（26%）｜李守益、王再旺：席次管理模組（組織帳號／配發開通／報表／月結）；關懷報告與異常通知模組。產出：營運後台上線報告（兩模組驗收）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D 資安與品質驗證（12%）｜鄭郁潔、蔡雅歌＋委外檢測：QA 整合與系統測試；App 第三方資安檢測＋修補複測。產出：QA 系統測試報告、資安檢測合格報告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E 場域驗證與導入（10%）｜蔡盛全：使用者研究與場域確認；健康中心＋ESG 場域試辦（14 天框架、指標事先議定）。產出：使用者研究報告、試辦成效報告＋2–3 家付費導入意向書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統籌｜曾宇晞（計畫主持人）＋陳少喬：需求規劃、進度管理、結案報告</a:t>
            </a:r>
          </a:p>
        </p:txBody>
      </p:sp>
      <p:sp>
        <p:nvSpPr>
          <p:cNvPr id="160" name="投影片編號版面配置區 5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11B60586-00D6-4979-8EDC-F77764A25E8E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15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標題 1"/>
          <p:cNvSpPr txBox="1"/>
          <p:nvPr/>
        </p:nvSpPr>
        <p:spPr>
          <a:xfrm>
            <a:off x="614520" y="943920"/>
            <a:ext cx="4903920" cy="79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(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二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) 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分項計畫說明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文字方塊 6"/>
          <p:cNvSpPr txBox="1"/>
          <p:nvPr/>
        </p:nvSpPr>
        <p:spPr>
          <a:xfrm>
            <a:off x="1080720" y="1666080"/>
            <a:ext cx="9885960" cy="399960"/>
          </a:xfrm>
          <a:prstGeom prst="rect">
            <a:avLst/>
          </a:prstGeom>
          <a:noFill/>
          <a:ln w="0">
            <a:noFill/>
          </a:ln>
        </p:spPr>
        <p:txBody>
          <a:bodyPr anchor="t" wrap="square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微軟正黑體"/>
              </a:rPr>
              <a:t>12 個查核點分三波：8 月 5 個階段驗收（A1／B1／C1／D1／E1）、10 月 1 個（A3）、11 月 6 個結案驗收（A2／A4／B2／C2／D2／E2）；進度依經費執行比例：第三季末 60%、結案 100%。時程風險控管：後台以席次管理模組先行、範疇可依優先級調整；後端與測試雙人力互為備援。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標題 1"/>
          <p:cNvSpPr txBox="1"/>
          <p:nvPr/>
        </p:nvSpPr>
        <p:spPr>
          <a:xfrm>
            <a:off x="1981080" y="11664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五</a:t>
            </a: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、實施方法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投影片編號版面配置區 5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1D6519C4-9AA7-43C6-9786-264B746AAF9F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15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標題 1"/>
          <p:cNvSpPr txBox="1"/>
          <p:nvPr/>
        </p:nvSpPr>
        <p:spPr>
          <a:xfrm>
            <a:off x="351720" y="691920"/>
            <a:ext cx="7543800" cy="79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(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三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) 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資安防護規劃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3"/>
          <p:cNvSpPr txBox="1"/>
          <p:nvPr/>
        </p:nvSpPr>
        <p:spPr>
          <a:xfrm>
            <a:off x="-1440" y="1305360"/>
            <a:ext cx="11618640" cy="1801080"/>
          </a:xfrm>
          <a:prstGeom prst="rect">
            <a:avLst/>
          </a:prstGeom>
          <a:noFill/>
          <a:ln w="0">
            <a:noFill/>
          </a:ln>
        </p:spPr>
        <p:txBody>
          <a:bodyPr lIns="36000" rIns="36000" anchor="t" wrap="square">
            <a:noAutofit/>
          </a:bodyPr>
          <a:p>
            <a:pPr marL="1279440" indent="-4572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Font typeface="OpenSymbol"/>
              <a:buAutoNum type="arabicPeriod"/>
            </a:pPr>
            <a:r>
              <a:rPr sz="1250">
                <a:solidFill>
                  <a:srgbClr val="212121"/>
                </a:solidFill>
                <a:latin typeface="微軟正黑體"/>
              </a:rPr>
              <a:t>公司資訊安全現況：ISO 27001（2022）成文管理制度；員工端點防護、帳號集中管理＋多因子驗證已導入；資安負責窗口黃聖育。產品層既有工程（均通過驗證）：全程 TLS 1.3、多租戶隔離與越權防護、帳號真刪、內購伺服器驗簽、金鑰以 Secret Manager 管理不進程式碼。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12121"/>
                </a:solidFill>
                <a:latin typeface="微軟正黑體"/>
              </a:rPr>
              <a:t>本計畫資安規劃（六面向）：傳輸機密性（憑證輪替、HSTS）／資料安全（健康欄位信封加密、資料最小化、TTL 刪除）／防惡意軟體（相依套件與映像檔弱點掃描）／弱點管理（修補分級與台帳；結案提出 App 第三方資安檢測報告為驗收查核項）／存取控制（後台角色權限＋稽核日誌）／風險管理（盤點→評估→控制→檢查循環；簽約前完成企業資安評級）。AI 服務均美系供應商、資料不經中國大陸地區，研發人員與資通訊產品出具企業聲明書。</a:t>
            </a:r>
          </a:p>
        </p:txBody>
      </p:sp>
      <p:graphicFrame>
        <p:nvGraphicFramePr>
          <p:cNvPr id="167" name="表格 8"/>
          <p:cNvGraphicFramePr/>
          <p:nvPr/>
        </p:nvGraphicFramePr>
        <p:xfrm>
          <a:off x="256680" y="3600000"/>
          <a:ext cx="11265480" cy="3141360"/>
        </p:xfrm>
        <a:graphic>
          <a:graphicData uri="http://schemas.openxmlformats.org/drawingml/2006/table">
            <a:tbl>
              <a:tblPr/>
              <a:tblGrid>
                <a:gridCol w="1855080"/>
                <a:gridCol w="1342800"/>
                <a:gridCol w="2175480"/>
                <a:gridCol w="4327560"/>
                <a:gridCol w="1564560"/>
              </a:tblGrid>
              <a:tr h="12805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會計科目</a:t>
                      </a:r>
                      <a:endParaRPr lang="en-US" sz="16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（請參考開發總經費預算表之經費項目）</a:t>
                      </a:r>
                      <a:endParaRPr lang="en-US" sz="16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DB9E4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資訊安全項目</a:t>
                      </a:r>
                      <a:endParaRPr lang="en-US" sz="16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DB9E4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內容說明</a:t>
                      </a:r>
                      <a:endParaRPr lang="en-US" sz="16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DB9E4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適用人力、設備與系統</a:t>
                      </a:r>
                      <a:endParaRPr lang="en-US" sz="16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（須註明參與計畫人力編號、委外企業名稱、應用程式、</a:t>
                      </a: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IoT</a:t>
                      </a:r>
                      <a:r>
                        <a:rPr lang="zh-TW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閘道器、網路、後臺伺服器、應用程式或其他）</a:t>
                      </a:r>
                      <a:endParaRPr lang="en-US" sz="16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DB9E4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資訊安全經費</a:t>
                      </a:r>
                      <a:endParaRPr lang="en-US" sz="16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（千元）</a:t>
                      </a:r>
                      <a:endParaRPr lang="en-US" sz="16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DB9E44"/>
                    </a:solidFill>
                  </a:tcPr>
                </a:tc>
              </a:tr>
              <a:tr h="465120">
                <a:tc>
                  <a:txBody>
                    <a:bodyPr anchor="ctr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驗證費（委外）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行動應用 App 基本資安檢測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依「行動應用App基本資安檢測基準」執行檢測與複測，為 App 公開上架之法定前置程序；範圍涵蓋 App 前端與後端 API 介接面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愛台灣驗證股份有限公司（資安協作與送測窗口；實際檢測由政府認可第三方實驗室執行）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200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</a:tr>
              <a:tr h="465120">
                <a:tc>
                  <a:txBody>
                    <a:bodyPr anchor="ctr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人事費（自辦）</a:t>
                      </a:r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系統開發之資安工程與存取控制實作</a:t>
                      </a:r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帳號隔離、越權（BOLA）防護、傳輸與靜態加密、金鑰管理、弱點監控與修補之工時折算</a:t>
                      </a:r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人員編號 3、4（李守益、王再旺）；後端伺服器／資料庫／API</a:t>
                      </a:r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buNone/>
                      </a:pPr>
                      <a:r>
                        <a:rPr sz="1100" b="0">
                          <a:solidFill>
                            <a:srgbClr val="212121"/>
                          </a:solidFill>
                          <a:latin typeface="微軟正黑體"/>
                        </a:rPr>
                        <a:t>165</a:t>
                      </a:r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465120">
                <a:tc gridSpan="4">
                  <a:txBody>
                    <a:bodyPr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A</a:t>
                      </a: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資訊安全經費合計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  <a:tc hMerge="1">
                  <a:txBody>
                    <a:bodyPr lIns="0" tIns="0" rIns="0" bIns="0" anchor="t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DFCF"/>
                    </a:solidFill>
                  </a:tcPr>
                </a:tc>
                <a:tc hMerge="1">
                  <a:txBody>
                    <a:bodyPr lIns="0" tIns="0" rIns="0" bIns="0" anchor="t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DFCF"/>
                    </a:solidFill>
                  </a:tcPr>
                </a:tc>
                <a:tc hMerge="1">
                  <a:txBody>
                    <a:bodyPr lIns="0" tIns="0" rIns="0" bIns="0" anchor="t">
                      <a:noAutofit/>
                    </a:bodyPr>
                    <a:p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D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buNone/>
                      </a:pPr>
                      <a:r>
                        <a:rPr sz="1100" b="1">
                          <a:solidFill>
                            <a:srgbClr val="212121"/>
                          </a:solidFill>
                          <a:latin typeface="微軟正黑體"/>
                        </a:rPr>
                        <a:t>365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FCF"/>
                    </a:solidFill>
                  </a:tcPr>
                </a:tc>
              </a:tr>
              <a:tr h="465480">
                <a:tc gridSpan="4">
                  <a:txBody>
                    <a:bodyPr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資訊安全經費佔總經費之比率＝（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A/</a:t>
                      </a: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計畫總經費）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%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 lIns="0" tIns="0" rIns="0" bIns="0" anchor="t">
                      <a:noAutofit/>
                    </a:bodyPr>
                    <a:p>
                      <a:pPr>
                        <a:buNone/>
                      </a:pPr>
                      <a:r>
                        <a:rPr sz="1100" b="1">
                          <a:solidFill>
                            <a:srgbClr val="212121"/>
                          </a:solidFill>
                          <a:latin typeface="微軟正黑體"/>
                        </a:rPr>
                        <a:t>365／4,451＝8.20%（≥7% 門檻）</a:t>
                      </a:r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9000" marB="9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 lIns="0" tIns="0" rIns="0" bIns="0" anchor="t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 lIns="0" tIns="0" rIns="0" bIns="0" anchor="t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  <p:sp>
        <p:nvSpPr>
          <p:cNvPr id="168" name="標題 1"/>
          <p:cNvSpPr txBox="1"/>
          <p:nvPr/>
        </p:nvSpPr>
        <p:spPr>
          <a:xfrm>
            <a:off x="1981080" y="11664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五</a:t>
            </a: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、實施方法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AutoShape 29"/>
          <p:cNvSpPr/>
          <p:nvPr/>
        </p:nvSpPr>
        <p:spPr>
          <a:xfrm>
            <a:off x="4583880" y="1917000"/>
            <a:ext cx="2880360" cy="1368000"/>
          </a:xfrm>
          <a:custGeom>
            <a:avLst/>
            <a:gdLst>
              <a:gd name="textAreaLeft" fmla="*/ 34560 w 2880360"/>
              <a:gd name="textAreaRight" fmla="*/ 2845800 w 2880360"/>
              <a:gd name="textAreaTop" fmla="*/ 34560 h 1368000"/>
              <a:gd name="textAreaBottom" fmla="*/ 1333440 h 1368000"/>
            </a:gdLst>
            <a:ahLst/>
            <a:cxnLst/>
            <a:rect l="textAreaLeft" t="textAreaTop" r="textAreaRight" b="textAreaBottom"/>
            <a:pathLst>
              <a:path w="45473" h="21600">
                <a:moveTo>
                  <a:pt x="1874" y="0"/>
                </a:moveTo>
                <a:lnTo>
                  <a:pt x="1874" y="0"/>
                </a:lnTo>
                <a:arcTo wR="1874" hR="1874" stAng="-5400000" swAng="-5400000"/>
                <a:lnTo>
                  <a:pt x="0" y="1874"/>
                </a:lnTo>
                <a:arcTo wR="0" hR="0" stAng="0" swAng="0"/>
                <a:lnTo>
                  <a:pt x="0" y="19726"/>
                </a:lnTo>
                <a:lnTo>
                  <a:pt x="0" y="19726"/>
                </a:lnTo>
                <a:arcTo wR="1874" hR="1874" stAng="-10800000" swAng="-5400000"/>
                <a:lnTo>
                  <a:pt x="1874" y="21600"/>
                </a:lnTo>
                <a:arcTo wR="0" hR="0" stAng="0" swAng="0"/>
                <a:lnTo>
                  <a:pt x="43599" y="21600"/>
                </a:lnTo>
                <a:lnTo>
                  <a:pt x="43599" y="21600"/>
                </a:lnTo>
                <a:arcTo wR="1874" hR="1874" stAng="5400000" swAng="-5400000"/>
                <a:lnTo>
                  <a:pt x="45473" y="19726"/>
                </a:lnTo>
                <a:arcTo wR="0" hR="0" stAng="0" swAng="0"/>
                <a:lnTo>
                  <a:pt x="45473" y="1874"/>
                </a:lnTo>
                <a:lnTo>
                  <a:pt x="45473" y="1874"/>
                </a:lnTo>
                <a:arcTo wR="1874" hR="1874" stAng="0" swAng="-5400000"/>
                <a:lnTo>
                  <a:pt x="43599" y="0"/>
                </a:lnTo>
                <a:arcTo wR="0" hR="0" stAng="0" swAng="0"/>
                <a:close/>
              </a:path>
            </a:pathLst>
          </a:cu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87480" tIns="44280" rIns="87480" bIns="44280" anchor="ctr" anchorCtr="1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12121"/>
                </a:solidFill>
                <a:latin typeface="微軟正黑體"/>
              </a:rPr>
              <a:t>本計畫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12121"/>
                </a:solidFill>
                <a:latin typeface="微軟正黑體"/>
              </a:rPr>
              <a:t>自主開發權重占比：約 95.5%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12121"/>
                </a:solidFill>
                <a:latin typeface="微軟正黑體"/>
              </a:rPr>
              <a:t>（五分項全數由 12 人團隊自辦執行）</a:t>
            </a:r>
          </a:p>
        </p:txBody>
      </p:sp>
      <p:sp>
        <p:nvSpPr>
          <p:cNvPr id="170" name="AutoShape 29"/>
          <p:cNvSpPr/>
          <p:nvPr/>
        </p:nvSpPr>
        <p:spPr>
          <a:xfrm>
            <a:off x="1631520" y="4221000"/>
            <a:ext cx="2880360" cy="1368000"/>
          </a:xfrm>
          <a:custGeom>
            <a:avLst/>
            <a:gdLst>
              <a:gd name="textAreaLeft" fmla="*/ 34560 w 2880360"/>
              <a:gd name="textAreaRight" fmla="*/ 2845800 w 2880360"/>
              <a:gd name="textAreaTop" fmla="*/ 34560 h 1368000"/>
              <a:gd name="textAreaBottom" fmla="*/ 1333440 h 1368000"/>
            </a:gdLst>
            <a:ahLst/>
            <a:cxnLst/>
            <a:rect l="textAreaLeft" t="textAreaTop" r="textAreaRight" b="textAreaBottom"/>
            <a:pathLst>
              <a:path w="45473" h="21600">
                <a:moveTo>
                  <a:pt x="1874" y="0"/>
                </a:moveTo>
                <a:lnTo>
                  <a:pt x="1874" y="0"/>
                </a:lnTo>
                <a:arcTo wR="1874" hR="1874" stAng="-5400000" swAng="-5400000"/>
                <a:lnTo>
                  <a:pt x="0" y="1874"/>
                </a:lnTo>
                <a:arcTo wR="0" hR="0" stAng="0" swAng="0"/>
                <a:lnTo>
                  <a:pt x="0" y="19726"/>
                </a:lnTo>
                <a:lnTo>
                  <a:pt x="0" y="19726"/>
                </a:lnTo>
                <a:arcTo wR="1874" hR="1874" stAng="-10800000" swAng="-5400000"/>
                <a:lnTo>
                  <a:pt x="1874" y="21600"/>
                </a:lnTo>
                <a:arcTo wR="0" hR="0" stAng="0" swAng="0"/>
                <a:lnTo>
                  <a:pt x="43599" y="21600"/>
                </a:lnTo>
                <a:lnTo>
                  <a:pt x="43599" y="21600"/>
                </a:lnTo>
                <a:arcTo wR="1874" hR="1874" stAng="5400000" swAng="-5400000"/>
                <a:lnTo>
                  <a:pt x="45473" y="19726"/>
                </a:lnTo>
                <a:arcTo wR="0" hR="0" stAng="0" swAng="0"/>
                <a:lnTo>
                  <a:pt x="45473" y="1874"/>
                </a:lnTo>
                <a:lnTo>
                  <a:pt x="45473" y="1874"/>
                </a:lnTo>
                <a:arcTo wR="1874" hR="1874" stAng="0" swAng="-5400000"/>
                <a:lnTo>
                  <a:pt x="43599" y="0"/>
                </a:lnTo>
                <a:arcTo wR="0" hR="0" stAng="0" swAng="0"/>
                <a:close/>
              </a:path>
            </a:pathLst>
          </a:custGeom>
          <a:solidFill>
            <a:srgbClr val="FF6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87480" tIns="44280" rIns="87480" bIns="4428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無形資產引進對象：無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開發權重占比：—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無形資產引進項目：無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金額：0</a:t>
            </a:r>
          </a:p>
        </p:txBody>
      </p:sp>
      <p:sp>
        <p:nvSpPr>
          <p:cNvPr id="171" name="AutoShape 29"/>
          <p:cNvSpPr/>
          <p:nvPr/>
        </p:nvSpPr>
        <p:spPr>
          <a:xfrm>
            <a:off x="4655880" y="4221000"/>
            <a:ext cx="2880360" cy="1368000"/>
          </a:xfrm>
          <a:custGeom>
            <a:avLst/>
            <a:gdLst>
              <a:gd name="textAreaLeft" fmla="*/ 34560 w 2880360"/>
              <a:gd name="textAreaRight" fmla="*/ 2845800 w 2880360"/>
              <a:gd name="textAreaTop" fmla="*/ 34560 h 1368000"/>
              <a:gd name="textAreaBottom" fmla="*/ 1333440 h 1368000"/>
            </a:gdLst>
            <a:ahLst/>
            <a:cxnLst/>
            <a:rect l="textAreaLeft" t="textAreaTop" r="textAreaRight" b="textAreaBottom"/>
            <a:pathLst>
              <a:path w="45473" h="21600">
                <a:moveTo>
                  <a:pt x="1874" y="0"/>
                </a:moveTo>
                <a:lnTo>
                  <a:pt x="1874" y="0"/>
                </a:lnTo>
                <a:arcTo wR="1874" hR="1874" stAng="-5400000" swAng="-5400000"/>
                <a:lnTo>
                  <a:pt x="0" y="1874"/>
                </a:lnTo>
                <a:arcTo wR="0" hR="0" stAng="0" swAng="0"/>
                <a:lnTo>
                  <a:pt x="0" y="19726"/>
                </a:lnTo>
                <a:lnTo>
                  <a:pt x="0" y="19726"/>
                </a:lnTo>
                <a:arcTo wR="1874" hR="1874" stAng="-10800000" swAng="-5400000"/>
                <a:lnTo>
                  <a:pt x="1874" y="21600"/>
                </a:lnTo>
                <a:arcTo wR="0" hR="0" stAng="0" swAng="0"/>
                <a:lnTo>
                  <a:pt x="43599" y="21600"/>
                </a:lnTo>
                <a:lnTo>
                  <a:pt x="43599" y="21600"/>
                </a:lnTo>
                <a:arcTo wR="1874" hR="1874" stAng="5400000" swAng="-5400000"/>
                <a:lnTo>
                  <a:pt x="45473" y="19726"/>
                </a:lnTo>
                <a:arcTo wR="0" hR="0" stAng="0" swAng="0"/>
                <a:lnTo>
                  <a:pt x="45473" y="1874"/>
                </a:lnTo>
                <a:lnTo>
                  <a:pt x="45473" y="1874"/>
                </a:lnTo>
                <a:arcTo wR="1874" hR="1874" stAng="0" swAng="-5400000"/>
                <a:lnTo>
                  <a:pt x="43599" y="0"/>
                </a:lnTo>
                <a:arcTo wR="0" hR="0" stAng="0" swAng="0"/>
                <a:close/>
              </a:path>
            </a:pathLst>
          </a:cu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87480" tIns="44280" rIns="87480" bIns="4428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委託研究對象：無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開發權重占比：—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委託研究項目：無（場域驗證由內部團隊主責）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金額：0</a:t>
            </a:r>
          </a:p>
        </p:txBody>
      </p:sp>
      <p:sp>
        <p:nvSpPr>
          <p:cNvPr id="172" name="AutoShape 29"/>
          <p:cNvSpPr/>
          <p:nvPr/>
        </p:nvSpPr>
        <p:spPr>
          <a:xfrm>
            <a:off x="7680240" y="4221000"/>
            <a:ext cx="2880360" cy="1368000"/>
          </a:xfrm>
          <a:custGeom>
            <a:avLst/>
            <a:gdLst>
              <a:gd name="textAreaLeft" fmla="*/ 34560 w 2880360"/>
              <a:gd name="textAreaRight" fmla="*/ 2845800 w 2880360"/>
              <a:gd name="textAreaTop" fmla="*/ 34560 h 1368000"/>
              <a:gd name="textAreaBottom" fmla="*/ 1333440 h 1368000"/>
            </a:gdLst>
            <a:ahLst/>
            <a:cxnLst/>
            <a:rect l="textAreaLeft" t="textAreaTop" r="textAreaRight" b="textAreaBottom"/>
            <a:pathLst>
              <a:path w="45473" h="21600">
                <a:moveTo>
                  <a:pt x="1874" y="0"/>
                </a:moveTo>
                <a:lnTo>
                  <a:pt x="1874" y="0"/>
                </a:lnTo>
                <a:arcTo wR="1874" hR="1874" stAng="-5400000" swAng="-5400000"/>
                <a:lnTo>
                  <a:pt x="0" y="1874"/>
                </a:lnTo>
                <a:arcTo wR="0" hR="0" stAng="0" swAng="0"/>
                <a:lnTo>
                  <a:pt x="0" y="19726"/>
                </a:lnTo>
                <a:lnTo>
                  <a:pt x="0" y="19726"/>
                </a:lnTo>
                <a:arcTo wR="1874" hR="1874" stAng="-10800000" swAng="-5400000"/>
                <a:lnTo>
                  <a:pt x="1874" y="21600"/>
                </a:lnTo>
                <a:arcTo wR="0" hR="0" stAng="0" swAng="0"/>
                <a:lnTo>
                  <a:pt x="43599" y="21600"/>
                </a:lnTo>
                <a:lnTo>
                  <a:pt x="43599" y="21600"/>
                </a:lnTo>
                <a:arcTo wR="1874" hR="1874" stAng="5400000" swAng="-5400000"/>
                <a:lnTo>
                  <a:pt x="45473" y="19726"/>
                </a:lnTo>
                <a:arcTo wR="0" hR="0" stAng="0" swAng="0"/>
                <a:lnTo>
                  <a:pt x="45473" y="1874"/>
                </a:lnTo>
                <a:lnTo>
                  <a:pt x="45473" y="1874"/>
                </a:lnTo>
                <a:arcTo wR="1874" hR="1874" stAng="0" swAng="-5400000"/>
                <a:lnTo>
                  <a:pt x="43599" y="0"/>
                </a:lnTo>
                <a:arcTo wR="0" hR="0" stAng="0" swAng="0"/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87480" tIns="44280" rIns="87480" bIns="4428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驗證對象：愛台灣驗證股份有限公司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開發權重占比：約 4.5%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驗證項目：行動應用 App 基本資安檢測（含修補複測）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121"/>
                </a:solidFill>
                <a:latin typeface="微軟正黑體"/>
              </a:rPr>
              <a:t>金額：200 千元（合作意向書 MOU 已雙方用印）</a:t>
            </a:r>
          </a:p>
        </p:txBody>
      </p:sp>
      <p:sp>
        <p:nvSpPr>
          <p:cNvPr id="173" name="加號 7"/>
          <p:cNvSpPr/>
          <p:nvPr/>
        </p:nvSpPr>
        <p:spPr>
          <a:xfrm>
            <a:off x="5735880" y="3501000"/>
            <a:ext cx="504000" cy="576000"/>
          </a:xfrm>
          <a:custGeom>
            <a:avLst/>
            <a:gdLst>
              <a:gd name="textAreaLeft" fmla="*/ 66600 w 504000"/>
              <a:gd name="textAreaRight" fmla="*/ 437400 w 504000"/>
              <a:gd name="textAreaTop" fmla="*/ 228600 h 576000"/>
              <a:gd name="textAreaBottom" fmla="*/ 347400 h 576000"/>
            </a:gdLst>
            <a:ahLst/>
            <a:cxnLst/>
            <a:rect l="textAreaLeft" t="textAreaTop" r="textAreaRight" b="textAreaBottom"/>
            <a:pathLst>
              <a:path w="21600" h="24684">
                <a:moveTo>
                  <a:pt x="2863" y="9802"/>
                </a:moveTo>
                <a:lnTo>
                  <a:pt x="8260" y="9802"/>
                </a:lnTo>
                <a:lnTo>
                  <a:pt x="8260" y="3272"/>
                </a:lnTo>
                <a:lnTo>
                  <a:pt x="13340" y="3272"/>
                </a:lnTo>
                <a:lnTo>
                  <a:pt x="13340" y="9802"/>
                </a:lnTo>
                <a:lnTo>
                  <a:pt x="18737" y="9802"/>
                </a:lnTo>
                <a:lnTo>
                  <a:pt x="18737" y="14882"/>
                </a:lnTo>
                <a:lnTo>
                  <a:pt x="13340" y="14882"/>
                </a:lnTo>
                <a:lnTo>
                  <a:pt x="13340" y="21412"/>
                </a:lnTo>
                <a:lnTo>
                  <a:pt x="8260" y="21412"/>
                </a:lnTo>
                <a:lnTo>
                  <a:pt x="8260" y="14882"/>
                </a:lnTo>
                <a:lnTo>
                  <a:pt x="2863" y="14882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投影片編號版面配置區 8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815D4136-9B84-4756-AFB8-064C43C50290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16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標題 1"/>
          <p:cNvSpPr txBox="1"/>
          <p:nvPr/>
        </p:nvSpPr>
        <p:spPr>
          <a:xfrm>
            <a:off x="1981080" y="13644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六</a:t>
            </a: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、無形資產引進、委託研究與驗證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投影片編號版面配置區 5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3C6B1954-88B1-470F-AB56-B398B5D5150A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&lt;編號&gt;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標題 1"/>
          <p:cNvSpPr txBox="1"/>
          <p:nvPr/>
        </p:nvSpPr>
        <p:spPr>
          <a:xfrm>
            <a:off x="1981080" y="13644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七</a:t>
            </a: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、競爭者分析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700000" y="130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國際與本土競爭者——各缺一角：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・ElliQ（美國）：桌上型陪伴機器人、已入州政府給付通路——硬體 US$249＋月費、僅英語、桌面固定形態，查無台灣引進計畫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・Hyodol（韓國）：擬人娃娃機器人、政府採購逾 1.2 萬台——硬體 US$879 起、韓語為主、物流成本高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・Replika／Character.AI：通用情感陪伴 App、黏著度高——非為長者設計、缺安全網，已有訴訟與重罰案例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・智齡科技 Jubo（台灣）：長照機構效率化 SaaS、機構通路深——不做 C 端家庭陪伴，屬潛在通路合作對象而非直接競爭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本計畫差異化定位：台灣第一個講台灣繁體與台語、同時服務家庭與企業（ESG／長照中心）的長者健康陪伴 App——純軟體用既有裝置、危機安全網為核心架構（國際監管正把安全網變成法定門檻，如加州 SB 243）、企業席次 B2B2C 雙通路。「純軟體＋繁中台語＋安全網＋雙通路」的組合，目前市場沒有直接等價品。</a:t>
            </a: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投影片編號版面配置區 5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3EC2EDE0-A215-4938-A08B-E2223E05CE80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新細明體"/>
              </a:rPr>
              <a:t>&lt;編號&gt;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標題 1"/>
          <p:cNvSpPr txBox="1"/>
          <p:nvPr/>
        </p:nvSpPr>
        <p:spPr>
          <a:xfrm>
            <a:off x="1981080" y="13644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八、營運服務規劃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文字方塊 4"/>
          <p:cNvSpPr txBox="1"/>
          <p:nvPr/>
        </p:nvSpPr>
        <p:spPr>
          <a:xfrm>
            <a:off x="1057320" y="1204200"/>
            <a:ext cx="10582200" cy="921240"/>
          </a:xfrm>
          <a:prstGeom prst="rect">
            <a:avLst/>
          </a:prstGeom>
          <a:noFill/>
          <a:ln w="0">
            <a:noFill/>
          </a:ln>
        </p:spPr>
        <p:txBody>
          <a:bodyPr anchor="t" wrap="square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服務水準目標：月服務可用性 ≥ 99.5%；監控告警（可用性／錯誤率／成本分級）、異常快速回應；機構端導入到場支援與教育訓練。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具體衡量指標：服務涵蓋率（啟用家庭帳號數＋企業／機構導入據點數）、客戶滿意度（定期調查／NPS）、客戶留存率（C 端訂閱續約率、B 端企業年約續約率）、會員黏著度（長者日均互動次數、子女端家庭儀表板開啟頻率）。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營運數據分析與管理平台：由本計畫「營運後台」支撐——家庭端（互動頻率、對話品質、安全事件通報）與企業端（服務可用率、異常回應時間）雙軌監控。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/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潛在導入客戶（洽談中）：長照中心／日照中心（分擔離峰關懷與家屬回報）、健康中心（會員陪伴與健康提醒）、養生村（夜間人力與招住差異化）、ESG 企業（員工家庭照顧福利）、保險客戶關懷（潛在通路）。目標於計畫期間完成 2–3 家付費導入意向書用印；以 14 天試辦框架（指標事先議定、達標轉正式、未達標無責結束）降低場域決策門檻。</a:t>
            </a: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投影片編號版面配置區 5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D91444D3-179B-4536-80B5-9E33FF8591B0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&lt;編號&gt;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標題 1"/>
          <p:cNvSpPr txBox="1"/>
          <p:nvPr/>
        </p:nvSpPr>
        <p:spPr>
          <a:xfrm>
            <a:off x="1981080" y="13644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九</a:t>
            </a: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、行銷策略規劃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084320" y="2912760"/>
            <a:ext cx="8229600" cy="79200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br>
              <a:rPr sz="3200"/>
            </a:br>
            <a:br>
              <a:rPr sz="3200"/>
            </a:br>
            <a:br>
              <a:rPr sz="3200"/>
            </a:br>
            <a:br>
              <a:rPr sz="3200"/>
            </a:b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(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一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)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產品策略</a:t>
            </a:r>
            <a:br>
              <a:rPr sz="3200"/>
            </a:br>
            <a:br>
              <a:rPr sz="3200"/>
            </a:br>
            <a:br>
              <a:rPr sz="3200"/>
            </a:br>
            <a:br>
              <a:rPr sz="3200"/>
            </a:b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(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二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)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推廣策略</a:t>
            </a:r>
            <a:br>
              <a:rPr sz="3200"/>
            </a:br>
            <a:br>
              <a:rPr sz="3200"/>
            </a:br>
            <a:br>
              <a:rPr sz="3200"/>
            </a:br>
            <a:br>
              <a:rPr sz="3200"/>
            </a:b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(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三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)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通路策略</a:t>
            </a:r>
            <a:br>
              <a:rPr sz="3200"/>
            </a:br>
            <a:br>
              <a:rPr sz="3200"/>
            </a:br>
            <a:br>
              <a:rPr sz="3200"/>
            </a:br>
            <a:br>
              <a:rPr sz="3200"/>
            </a:b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文字方塊 5"/>
          <p:cNvSpPr txBox="1"/>
          <p:nvPr/>
        </p:nvSpPr>
        <p:spPr>
          <a:xfrm>
            <a:off x="1669320" y="1801800"/>
            <a:ext cx="9048600" cy="369360"/>
          </a:xfrm>
          <a:prstGeom prst="rect">
            <a:avLst/>
          </a:prstGeom>
          <a:noFill/>
          <a:ln w="0">
            <a:noFill/>
          </a:ln>
        </p:spPr>
        <p:txBody>
          <a:bodyPr anchor="t" wrap="square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>
                <a:solidFill>
                  <a:srgbClr val="212121"/>
                </a:solidFill>
                <a:latin typeface="微軟正黑體"/>
              </a:rPr>
              <a:t>定價：C 端訂閱（月費／年費）＋通話點數加購、14 天免費試用；B 端一次性導入服務費＋企業席次月訂閱兩行帳單制。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12121"/>
                </a:solidFill>
                <a:latin typeface="微軟正黑體"/>
              </a:rPr>
              <a:t>功能特色：即時語音自然互動、繁中台語原生、家人／機構雙儀表板、危機安全網。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12121"/>
                </a:solidFill>
                <a:latin typeface="微軟正黑體"/>
              </a:rPr>
              <a:t>保固售後：專屬客服窗口、機構到場支援與教育訓練、異常告警快速回應（對應 99.5% 可用性）。</a:t>
            </a:r>
          </a:p>
        </p:txBody>
      </p:sp>
      <p:sp>
        <p:nvSpPr>
          <p:cNvPr id="185" name="文字方塊 7"/>
          <p:cNvSpPr txBox="1"/>
          <p:nvPr/>
        </p:nvSpPr>
        <p:spPr>
          <a:xfrm>
            <a:off x="1722960" y="5380920"/>
            <a:ext cx="6095880" cy="369360"/>
          </a:xfrm>
          <a:prstGeom prst="rect">
            <a:avLst/>
          </a:prstGeom>
          <a:noFill/>
          <a:ln w="0">
            <a:noFill/>
          </a:ln>
        </p:spPr>
        <p:txBody>
          <a:bodyPr anchor="t" wrap="square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>
                <a:solidFill>
                  <a:srgbClr val="212121"/>
                </a:solidFill>
                <a:latin typeface="微軟正黑體"/>
              </a:rPr>
              <a:t>C 端：App Store 線上下載，直接觸及實際決策與付費之子女族群。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12121"/>
                </a:solidFill>
                <a:latin typeface="微軟正黑體"/>
              </a:rPr>
              <a:t>B 端：企業人資／永續部門（ESG 員工家庭照顧方案）；長照中心、健康中心；評估與智齡科技等既有通路業者策略合作（互補非競爭）。</a:t>
            </a:r>
          </a:p>
        </p:txBody>
      </p:sp>
      <p:sp>
        <p:nvSpPr>
          <p:cNvPr id="186" name="文字方塊 9"/>
          <p:cNvSpPr txBox="1"/>
          <p:nvPr/>
        </p:nvSpPr>
        <p:spPr>
          <a:xfrm>
            <a:off x="1721160" y="3578400"/>
            <a:ext cx="6095880" cy="600120"/>
          </a:xfrm>
          <a:prstGeom prst="rect">
            <a:avLst/>
          </a:prstGeom>
          <a:noFill/>
          <a:ln w="0">
            <a:noFill/>
          </a:ln>
        </p:spPr>
        <p:txBody>
          <a:bodyPr anchor="t" wrap="square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>
                <a:solidFill>
                  <a:srgbClr val="212121"/>
                </a:solidFill>
                <a:latin typeface="微軟正黑體"/>
              </a:rPr>
              <a:t>參展 200 千元：台北國際照顧博覽會「照顧科技」子展（115 年 10 月），實機情境展示、蒐集場域試辦意向。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12121"/>
                </a:solidFill>
                <a:latin typeface="微軟正黑體"/>
              </a:rPr>
              <a:t>社群廣告 100 千元：短影音＋圖片素材，觸及 35–55 歲子女族群。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12121"/>
                </a:solidFill>
                <a:latin typeface="微軟正黑體"/>
              </a:rPr>
              <a:t>數位廣告 80 千元：搜尋關鍵字（「長輩照顧」「父母獨居」），購買意圖最明確。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12121"/>
                </a:solidFill>
                <a:latin typeface="微軟正黑體"/>
              </a:rPr>
              <a:t>合計 380 千元、占總經費 8.5%（未逾 10% 上限）。</a:t>
            </a: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投影片編號版面配置區 6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5FD06B93-A1E3-4FEA-966C-80293F016A1E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&lt;編號&gt;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標題 1"/>
          <p:cNvSpPr txBox="1"/>
          <p:nvPr/>
        </p:nvSpPr>
        <p:spPr>
          <a:xfrm>
            <a:off x="1981080" y="13644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十、獲利模式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文字方塊 4"/>
          <p:cNvSpPr txBox="1"/>
          <p:nvPr/>
        </p:nvSpPr>
        <p:spPr>
          <a:xfrm>
            <a:off x="555480" y="1276920"/>
            <a:ext cx="9492480" cy="549000"/>
          </a:xfrm>
          <a:prstGeom prst="rect">
            <a:avLst/>
          </a:prstGeom>
          <a:noFill/>
          <a:ln w="0">
            <a:noFill/>
          </a:ln>
        </p:spPr>
        <p:txBody>
          <a:bodyPr anchor="t" wrap="square">
            <a:spAutoFit/>
          </a:bodyPr>
          <a:p>
            <a:pPr algn="just">
              <a:lnSpc>
                <a:spcPts val="1800"/>
              </a:lnSpc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企業席次月訂閱（B2B2C 主軌）：企業（ESG／長照中心／健康中心）採購 N 個席次、月結開立發票；長輩／家屬免費下載 App、由本公司於營運後台開通綁定；席次可轉移、量大階梯折扣、年約優惠。參考價 NT$300–500／人・月。國際先例：Calm for Business、Headspace for Work（covered-lives 模式）。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導入服務費：標準導入免費（線上教育訓練＋後台開通）；需系統串接、關懷報告客製場景者收一次性 NT$30–80 千元／企業。純軟體服務、不含硬體。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C 端訂閱＋點數：月費／年費訂閱＋通話點數加購、依實際使用分鐘計費——訂閱保障基礎付費穩定、點數捕捉重度使用者加值消費。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/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121"/>
                </a:solidFill>
                <a:latin typeface="微軟正黑體"/>
              </a:rPr>
              <a:t>定價邏輯：貼近國際同級服務水準（Calm 企業版每人年費約 US$31–58）、保有在地化與服務價值優勢；企業直接付款不經行動應用商店抽成、毛利較 C 端高約 15–30 個百分點。席次模組化＝標準化產品、非一案一製客製，導入新機構僅需後台開通、約 1–2 週。</a:t>
            </a: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01120" y="678600"/>
            <a:ext cx="8229600" cy="720000"/>
          </a:xfrm>
          <a:prstGeom prst="rect">
            <a:avLst/>
          </a:prstGeom>
          <a:noFill/>
          <a:ln w="1908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(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一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)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量化效益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投影片編號版面配置區 6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4BD29FD9-9787-4FDC-964F-2432C4A7A479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&lt;編號&gt;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標題 1"/>
          <p:cNvSpPr txBox="1"/>
          <p:nvPr/>
        </p:nvSpPr>
        <p:spPr>
          <a:xfrm>
            <a:off x="1981080" y="11664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十一</a:t>
            </a: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、預期效益說明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4" name="表格 6"/>
          <p:cNvGraphicFramePr/>
          <p:nvPr/>
        </p:nvGraphicFramePr>
        <p:xfrm>
          <a:off x="501120" y="1080000"/>
          <a:ext cx="11276280" cy="3750000"/>
        </p:xfrm>
        <a:graphic>
          <a:graphicData uri="http://schemas.openxmlformats.org/drawingml/2006/table">
            <a:tbl>
              <a:tblPr/>
              <a:tblGrid>
                <a:gridCol w="450360"/>
                <a:gridCol w="920880"/>
                <a:gridCol w="4245480"/>
                <a:gridCol w="1166040"/>
                <a:gridCol w="1497600"/>
                <a:gridCol w="1497600"/>
                <a:gridCol w="1498320"/>
              </a:tblGrid>
              <a:tr h="150000">
                <a:tc gridSpan="2" rowSpan="2"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計畫效益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 hMerge="1" rowSpan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rowSpan="2"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項　　目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 rowSpan="2"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結案當年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 gridSpan="3"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結案後</a:t>
                      </a: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3</a:t>
                      </a: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年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h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 gridSpan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 h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N+1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N+2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N+3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rowSpan="23">
                  <a:txBody>
                    <a:bodyPr lIns="0" tIns="11160" rIns="0" bIns="11160" anchor="t" anchorCtr="1" vert="eaVert">
                      <a:noAutofit/>
                    </a:bodyPr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量化效益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 rowSpan="8"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經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濟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效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益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增加產值（千元）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800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2,200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4,500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7,500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降低成本（千元）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150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350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550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800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計畫成果銷售量（件）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600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1,800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3,600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6,000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計畫成果銷售額（千元）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750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2,100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4,300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7,200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計畫衍生投資額（千元）</a:t>
                      </a:r>
                      <a:r>
                        <a:rPr lang="zh-TW" sz="850" b="0" u="none" strike="noStrike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微軟正黑體"/>
                          <a:ea typeface="微軟正黑體"/>
                        </a:rPr>
                        <a:t>必填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lnSpc>
                          <a:spcPts val="170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帶動客戶家數</a:t>
                      </a: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  </a:t>
                      </a:r>
                      <a:r>
                        <a:rPr lang="zh-TW" sz="850" b="0" u="none" strike="noStrike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微軟正黑體"/>
                          <a:ea typeface="微軟正黑體"/>
                        </a:rPr>
                        <a:t>必填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2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5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9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14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lnSpc>
                          <a:spcPts val="170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提升客戶營收（千元）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200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500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900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1,500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lnSpc>
                          <a:spcPts val="170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降低客戶成本（千元）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180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450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800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1,300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rowSpan="2"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技術創新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專利申請（件）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專利核准（件）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rowSpan="6"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創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新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效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益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計畫產出項目數（如：技術</a:t>
                      </a: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/</a:t>
                      </a: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產品</a:t>
                      </a: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/</a:t>
                      </a: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服務</a:t>
                      </a: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/</a:t>
                      </a: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商業模式等項目數）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辦理技術說明會或技術推廣活動（場次）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發表於國內外技術研討會、說明會等（場次）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7236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研究產出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（如：數位技術</a:t>
                      </a: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/</a:t>
                      </a: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軟體開發</a:t>
                      </a: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/</a:t>
                      </a: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產業應用等研究報告件</a:t>
                      </a: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/</a:t>
                      </a: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篇數）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成果使用者數（人次）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600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2,000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4,500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8,000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企業客戶數（家數）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rowSpan="5"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社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會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效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益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增加就業（人數）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研發人才培育（人數）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16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科技知識普及新聞刊登或媒體曝光宣傳數（次）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開放資料</a:t>
                      </a: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____</a:t>
                      </a: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（項），累計</a:t>
                      </a: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____</a:t>
                      </a: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使用人次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提供共用服務或應用服務項目</a:t>
                      </a: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___</a:t>
                      </a: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（項），累計</a:t>
                      </a:r>
                      <a:r>
                        <a:rPr lang="en-US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___</a:t>
                      </a: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使用人次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rowSpan="2"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學術成就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學術活動（場）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  <a:tr h="150000"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 vMerge="1">
                  <a:txBody>
                    <a:bodyPr lIns="0" tIns="0" rIns="0" bIns="0" anchor="t">
                      <a:noAutofit/>
                    </a:bodyPr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30000" marR="30000" marT="3000" marB="3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8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學術發表（篇）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11160" tIns="0" rIns="11160" bIns="0" anchor="ctr">
                      <a:noAutofit/>
                    </a:bodyPr>
                    <a:p>
                      <a:pPr marL="216000" indent="-216000"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微軟正黑體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30000" marR="30000" marT="3000" marB="3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矩形 4"/>
          <p:cNvSpPr/>
          <p:nvPr/>
        </p:nvSpPr>
        <p:spPr>
          <a:xfrm>
            <a:off x="523080" y="746280"/>
            <a:ext cx="2790360" cy="1067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990720" indent="-898560">
              <a:lnSpc>
                <a:spcPct val="100000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(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二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)</a:t>
            </a: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質化效益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投影片編號版面配置區 6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3358D848-2532-4D30-B7D7-8F43C7DFCCB7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&lt;編號&gt;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標題 1"/>
          <p:cNvSpPr txBox="1"/>
          <p:nvPr/>
        </p:nvSpPr>
        <p:spPr>
          <a:xfrm>
            <a:off x="1981080" y="11664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十一</a:t>
            </a: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、預期效益說明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3"/>
          <p:cNvSpPr txBox="1"/>
          <p:nvPr/>
        </p:nvSpPr>
        <p:spPr>
          <a:xfrm>
            <a:off x="523080" y="1331280"/>
            <a:ext cx="11618640" cy="1801080"/>
          </a:xfrm>
          <a:prstGeom prst="rect">
            <a:avLst/>
          </a:prstGeom>
          <a:noFill/>
          <a:ln w="0">
            <a:noFill/>
          </a:ln>
        </p:spPr>
        <p:txBody>
          <a:bodyPr lIns="36000" rIns="36000" anchor="t" wrap="square">
            <a:noAutofit/>
          </a:bodyPr>
          <a:p>
            <a:pPr marL="82224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1. 對國內產業發展之影響及關聯性：建立台灣本土家庭陪伴 App 之 B2B2C 導入品類標準、填補市場空白；協助中小型長照中心、健康中心以低門檻導入 AI 陪伴輔助工具、加速產業數位轉型；提供繁體中文與台語在地化服務標準、降低對高價國際方案之依賴。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2. 對公司之影響：由系統整合（SI）服務業者跨入自研 AI 健康陪伴照護產品公司；由一次性專案收入逐步導入企業席次月訂閱之經常性收入；團隊建立 AI 原生（AI-native）開發與協作能量、帶動內部工作方法升級。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12121"/>
                </a:solidFill>
                <a:latin typeface="微軟正黑體"/>
              </a:rPr>
              <a:t>3. 促成社會國家之影響：因應超高齡社會——緩解長者孤獨與家庭照顧負荷，支援長照人力缺口（推估 2028 年達 6.7 萬人）下之夜間、假日、離峰陪伴空缺；公安衛生防護——危機偵測轉介安全網銜接 113／119／1925 公共資源、降低獨居長者風險未被即時發現之機率；促進企業社會責任落實——為 ESG 社會面（S）提供具體可量化之員工照顧作為。</a:t>
            </a: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投影片編號版面配置區 6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79A01DC6-33A5-485A-BE6B-5E5DE27073AA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&lt;編號&gt;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標題 1"/>
          <p:cNvSpPr txBox="1"/>
          <p:nvPr/>
        </p:nvSpPr>
        <p:spPr>
          <a:xfrm>
            <a:off x="1981080" y="148680"/>
            <a:ext cx="8229600" cy="92196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00000"/>
              </a:lnSpc>
            </a:pPr>
            <a:r>
              <a:rPr lang="zh-TW" sz="3600" b="1" u="none" strike="noStrike">
                <a:solidFill>
                  <a:srgbClr val="C00000"/>
                </a:solidFill>
                <a:effectLst/>
                <a:uFillTx/>
                <a:latin typeface="微軟正黑體"/>
                <a:ea typeface="微軟正黑體"/>
              </a:rPr>
              <a:t>十二、經費編列說明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4" name="表格 5"/>
          <p:cNvGraphicFramePr/>
          <p:nvPr/>
        </p:nvGraphicFramePr>
        <p:xfrm>
          <a:off x="317880" y="1347840"/>
          <a:ext cx="11224440" cy="4335000"/>
        </p:xfrm>
        <a:graphic>
          <a:graphicData uri="http://schemas.openxmlformats.org/drawingml/2006/table">
            <a:tbl>
              <a:tblPr/>
              <a:tblGrid>
                <a:gridCol w="5364720"/>
                <a:gridCol w="1464840"/>
                <a:gridCol w="1464840"/>
                <a:gridCol w="1464840"/>
                <a:gridCol w="1465200"/>
              </a:tblGrid>
              <a:tr h="255000"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會計科目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3816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補助款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自籌款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合計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 % 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2520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255000">
                <a:tc gridSpan="5"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1.</a:t>
                      </a: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創新或研究發展人員之人事費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3816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55000"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（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1</a:t>
                      </a: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）創新或研究發展人員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3816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1,688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1,687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3,375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t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76%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255000"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（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2</a:t>
                      </a: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）顧問、專家費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3816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t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—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255000"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小計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3816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1,688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1,687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3,375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 lIns="17640" tIns="0" rIns="17640" bIns="0" anchor="t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76%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  <a:tr h="255000"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2.</a:t>
                      </a: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消耗性器材及原材料費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3816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t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—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255000"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3.</a:t>
                      </a: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創新或研究發展設備使用費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3816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248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248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496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t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11%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255000"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4.</a:t>
                      </a: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創新或研究發展設備維護費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3816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t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—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255000">
                <a:tc gridSpan="5"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5.</a:t>
                      </a: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無形資產之引進、委託研究或驗證費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3816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55000"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（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1</a:t>
                      </a: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）無形資產引進費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3816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t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—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255000"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（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2</a:t>
                      </a: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）委託研究費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3816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t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—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255000"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（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3</a:t>
                      </a: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）驗證費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3816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100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100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200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t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4%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255000"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小計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3816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100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100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200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 lIns="17640" tIns="0" rIns="17640" bIns="0" anchor="t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4%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  <a:tr h="255000"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6.</a:t>
                      </a: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國內差旅費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3816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t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—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255000"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7.</a:t>
                      </a: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創新服務推廣費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3816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189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191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380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t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0">
                          <a:solidFill>
                            <a:srgbClr val="212121"/>
                          </a:solidFill>
                          <a:latin typeface="微軟正黑體"/>
                        </a:rPr>
                        <a:t>9%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255000"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開發總經費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3816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1">
                          <a:solidFill>
                            <a:srgbClr val="212121"/>
                          </a:solidFill>
                          <a:latin typeface="微軟正黑體"/>
                        </a:rPr>
                        <a:t>2,225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1">
                          <a:solidFill>
                            <a:srgbClr val="212121"/>
                          </a:solidFill>
                          <a:latin typeface="微軟正黑體"/>
                        </a:rPr>
                        <a:t>2,226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1">
                          <a:solidFill>
                            <a:srgbClr val="212121"/>
                          </a:solidFill>
                          <a:latin typeface="微軟正黑體"/>
                        </a:rPr>
                        <a:t>4,451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1">
                          <a:solidFill>
                            <a:srgbClr val="212121"/>
                          </a:solidFill>
                          <a:latin typeface="微軟正黑體"/>
                        </a:rPr>
                        <a:t>100%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0DA"/>
                    </a:solidFill>
                  </a:tcPr>
                </a:tc>
              </a:tr>
              <a:tr h="255000"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zh-TW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微軟正黑體"/>
                          <a:ea typeface="微軟正黑體"/>
                        </a:rPr>
                        <a:t>百分比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0" marB="0">
                    <a:lnL w="3816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t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1">
                          <a:solidFill>
                            <a:srgbClr val="212121"/>
                          </a:solidFill>
                          <a:latin typeface="微軟正黑體"/>
                        </a:rPr>
                        <a:t>50%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t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1">
                          <a:solidFill>
                            <a:srgbClr val="212121"/>
                          </a:solidFill>
                          <a:latin typeface="微軟正黑體"/>
                        </a:rPr>
                        <a:t>50%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t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1">
                          <a:solidFill>
                            <a:srgbClr val="212121"/>
                          </a:solidFill>
                          <a:latin typeface="微軟正黑體"/>
                        </a:rPr>
                        <a:t>100%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2520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7640" tIns="0" rIns="17640" bIns="0" anchor="ctr">
                      <a:noAutofit/>
                    </a:bodyPr>
                    <a:p>
                      <a:pPr marL="216000" indent="-216000" algn="r">
                        <a:buClr>
                          <a:srgbClr val="000000"/>
                        </a:buClr>
                        <a:buSzPct val="45000"/>
                        <a:buFont typeface="Wingdings" charset="2"/>
                        <a:buNone/>
                      </a:pPr>
                      <a:r>
                        <a:rPr sz="1050" b="1">
                          <a:solidFill>
                            <a:srgbClr val="212121"/>
                          </a:solidFill>
                          <a:latin typeface="微軟正黑體"/>
                        </a:rPr>
                        <a:t/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7640" marR="17640" marT="9000" marB="9000">
                    <a:lnL w="2520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205" name="文字方塊 11"/>
          <p:cNvSpPr txBox="1"/>
          <p:nvPr/>
        </p:nvSpPr>
        <p:spPr>
          <a:xfrm>
            <a:off x="317880" y="6175800"/>
            <a:ext cx="6930720" cy="369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註：會計科目編列原則請參閱各分項經費說明，請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4</a:t>
            </a: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捨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5</a:t>
            </a: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入至整數。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文字方塊 5"/>
          <p:cNvSpPr txBox="1"/>
          <p:nvPr/>
        </p:nvSpPr>
        <p:spPr>
          <a:xfrm>
            <a:off x="10369080" y="862200"/>
            <a:ext cx="1260000" cy="369360"/>
          </a:xfrm>
          <a:prstGeom prst="rect">
            <a:avLst/>
          </a:prstGeom>
          <a:noFill/>
          <a:ln w="0">
            <a:noFill/>
          </a:ln>
        </p:spPr>
        <p:txBody>
          <a:bodyPr wrap="none" anchor="t">
            <a:spAutoFit/>
          </a:bodyPr>
          <a:p>
            <a:pPr>
              <a:lnSpc>
                <a:spcPct val="100000"/>
              </a:lnSpc>
            </a:pP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單位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:</a:t>
            </a: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千元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標題 1"/>
          <p:cNvSpPr txBox="1"/>
          <p:nvPr/>
        </p:nvSpPr>
        <p:spPr>
          <a:xfrm>
            <a:off x="515880" y="2727360"/>
            <a:ext cx="11160000" cy="140328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rmAutofit/>
          </a:bodyPr>
          <a:p>
            <a:pPr algn="ctr">
              <a:lnSpc>
                <a:spcPct val="120000"/>
              </a:lnSpc>
            </a:pP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簡報結束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lang="zh-TW" sz="3200" b="1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敬請指教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投影片編號版面配置區 2"/>
          <p:cNvSpPr txBox="1"/>
          <p:nvPr/>
        </p:nvSpPr>
        <p:spPr>
          <a:xfrm>
            <a:off x="9448920" y="650016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</a:pPr>
            <a:fld id="{A52BCEA4-E0DB-4384-BC27-AFE3E46B5AC5}" type="slidenum"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微軟正黑體"/>
                <a:ea typeface="微軟正黑體"/>
              </a:rPr>
              <a:t>&lt;編號&gt;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</TotalTime>
  <Application>LibreOffice/26.2.5.2$Windows_X86_64 LibreOffice_project/cd7284b4cbbfeb507e630c1aac019f4157393acb</Application>
  <AppVersion>15.0000</AppVersion>
  <Words>2190</Words>
  <Paragraphs>417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2023-01-18T01:54:40Z</dcterms:created>
  <dc:creator>DIGITAL+數位創新補助平台計畫專案辦公室</dc:creator>
  <dc:description/>
  <dc:language>zh-TW</dc:language>
  <cp:lastModifiedBy>陳思瑋 Andrew Chen</cp:lastModifiedBy>
  <cp:lastPrinted>2026-04-14T10:32:58Z</cp:lastPrinted>
  <dcterms:modified xsi:type="dcterms:W3CDTF">2026-07-14T06:36:23Z</dcterms:modified>
  <cp:revision>82</cp:revision>
  <dc:subject/>
  <dc:title>數位服務創新補助計畫_簡報格式</dc:title>
</cp:coreProperties>
</file>